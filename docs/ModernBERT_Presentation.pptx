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57af501-3565-330f-15b4-e6bb5bb7f6df}">
          <p14:sldIdLst>
            <p14:sldId id="256"/>
            <p14:sldId id="257"/>
          </p14:sldIdLst>
        </p14:section>
        <p14:section name="Background" id="{0c7ca8f5-bd59-ad5f-45cb-d7455ba62e18}">
          <p14:sldIdLst>
            <p14:sldId id="258"/>
            <p14:sldId id="259"/>
            <p14:sldId id="260"/>
            <p14:sldId id="261"/>
          </p14:sldIdLst>
        </p14:section>
        <p14:section name="Method" id="{e8d085e5-e7a1-1768-b202-9afa780dc9b3}">
          <p14:sldIdLst>
            <p14:sldId id="262"/>
            <p14:sldId id="263"/>
            <p14:sldId id="264"/>
            <p14:sldId id="265"/>
          </p14:sldIdLst>
        </p14:section>
        <p14:section name="Implementation" id="{c53f26ff-0bdc-5c37-46a0-f0609208e02a}">
          <p14:sldIdLst>
            <p14:sldId id="266"/>
          </p14:sldIdLst>
        </p14:section>
        <p14:section name="Results" id="{13689a2a-acbe-e66c-d087-a979b5be6c70}">
          <p14:sldIdLst>
            <p14:sldId id="267"/>
            <p14:sldId id="268"/>
            <p14:sldId id="269"/>
          </p14:sldIdLst>
        </p14:section>
        <p14:section name="Closing" id="{541fdb05-8fdf-ddc9-4dcb-f39d1d606616}">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49,582 reviews after cleaning</a:t>
            </a:r>
          </a:p>
        </c:rich>
      </c:tx>
      <c:layout/>
      <c:overlay val="0"/>
    </c:title>
    <c:autoTitleDeleted val="0"/>
    <c:plotArea>
      <c:layout/>
      <c:doughnutChart>
        <c:varyColors val="1"/>
        <c:ser>
          <c:idx val="0"/>
          <c:order val="0"/>
          <c:tx>
            <c:strRef>
              <c:f>Sheet1!$B$1</c:f>
              <c:strCache>
                <c:ptCount val="1"/>
                <c:pt idx="0">
                  <c:v>Reviews</c:v>
                </c:pt>
              </c:strCache>
            </c:strRef>
          </c:tx>
          <c:spPr>
            <a:solidFill>
              <a:schemeClr val="accent1"/>
            </a:solidFill>
            <a:ln w="9525" cap="flat">
              <a:solidFill>
                <a:srgbClr val="F9F9F9"/>
              </a:solidFill>
              <a:prstDash val="solid"/>
              <a:round/>
            </a:ln>
            <a:effectLst/>
          </c:spPr>
          <c:dPt>
            <c:idx val="0"/>
            <c:bubble3D val="0"/>
            <c:spPr>
              <a:solidFill>
                <a:srgbClr val="14213D"/>
              </a:solidFill>
              <a:ln w="19050" cap="flat">
                <a:solidFill>
                  <a:srgbClr val="EEF1F5"/>
                </a:solidFill>
                <a:prstDash val="solid"/>
                <a:round/>
              </a:ln>
              <a:effectLst/>
            </c:spPr>
          </c:dPt>
          <c:dPt>
            <c:idx val="1"/>
            <c:bubble3D val="0"/>
            <c:spPr>
              <a:solidFill>
                <a:srgbClr val="E9A23B"/>
              </a:solidFill>
              <a:ln w="19050" cap="flat">
                <a:solidFill>
                  <a:srgbClr val="EEF1F5"/>
                </a:solidFill>
                <a:prstDash val="solid"/>
                <a:round/>
              </a:ln>
              <a:effectLst/>
            </c:spPr>
          </c:dPt>
          <c:dPt>
            <c:idx val="2"/>
            <c:bubble3D val="0"/>
            <c:spPr>
              <a:solidFill>
                <a:srgbClr val="2F5D8C"/>
              </a:solidFill>
              <a:ln w="19050" cap="flat">
                <a:solidFill>
                  <a:srgbClr val="EEF1F5"/>
                </a:solidFill>
                <a:prstDash val="solid"/>
                <a:round/>
              </a:ln>
              <a:effectLst/>
            </c:spPr>
          </c:dPt>
          <c:dLbls>
            <c:dLbl>
              <c:idx val="0"/>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Training 39,665</c:v>
                </c:pt>
                <c:pt idx="1">
                  <c:v>Validation 4,958</c:v>
                </c:pt>
                <c:pt idx="2">
                  <c:v>Test 4,959</c:v>
                </c:pt>
              </c:strCache>
            </c:strRef>
          </c:cat>
          <c:val>
            <c:numRef>
              <c:f>Sheet1!$B$2:$B$4</c:f>
              <c:numCache>
                <c:ptCount val="3"/>
                <c:pt idx="0">
                  <c:v>39665</c:v>
                </c:pt>
                <c:pt idx="1">
                  <c:v>4958</c:v>
                </c:pt>
                <c:pt idx="2">
                  <c:v>4959</c:v>
                </c:pt>
              </c:numCache>
            </c:numRef>
          </c:val>
        </c:ser>
        <c:firstSliceAng val="0"/>
        <c:holeSize val="55"/>
      </c:doughnutChart>
      <c:spPr>
        <a:noFill/>
        <a:ln>
          <a:noFill/>
        </a:ln>
        <a:effectLst/>
      </c:spPr>
    </c:plotArea>
    <c:legend>
      <c:legendPos val="b"/>
      <c:overlay val="0"/>
      <c:txPr>
        <a:bodyPr/>
        <a:lstStyle/>
        <a:p>
          <a:pPr>
            <a:defRPr sz="1200">
              <a:solidFill>
                <a:srgbClr val="14213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Test accuracy (axis starts at 80%)</a:t>
            </a:r>
          </a:p>
        </c:rich>
      </c:tx>
      <c:layout/>
      <c:overlay val="0"/>
    </c:title>
    <c:autoTitleDeleted val="0"/>
    <c:plotArea>
      <c:layout/>
      <c:barChart>
        <c:barDir val="col"/>
        <c:grouping val="clustered"/>
        <c:varyColors val="0"/>
        <c:ser>
          <c:idx val="0"/>
          <c:order val="0"/>
          <c:tx>
            <c:strRef>
              <c:f>Sheet1!$B$1</c:f>
              <c:strCache>
                <c:ptCount val="1"/>
                <c:pt idx="0">
                  <c:v>IMDb accuracy (%)</c:v>
                </c:pt>
              </c:strCache>
            </c:strRef>
          </c:tx>
          <c:spPr>
            <a:solidFill>
              <a:srgbClr val="9AA5B1"/>
            </a:solidFill>
            <a:effectLst/>
          </c:spPr>
          <c:invertIfNegative val="0"/>
          <c:dLbls>
            <c:numFmt formatCode="0.00&quot;%&quot;" sourceLinked="0"/>
            <c:txPr>
              <a:bodyPr/>
              <a:lstStyle/>
              <a:p>
                <a:pPr>
                  <a:defRPr b="1" i="0" strike="noStrike" sz="12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9AA5B1"/>
              </a:solidFill>
              <a:effectLst/>
            </c:spPr>
          </c:dPt>
          <c:dPt>
            <c:idx val="1"/>
            <c:invertIfNegative val="0"/>
            <c:bubble3D val="0"/>
            <c:spPr>
              <a:solidFill>
                <a:srgbClr val="6B7A8F"/>
              </a:solidFill>
              <a:effectLst/>
            </c:spPr>
          </c:dPt>
          <c:dPt>
            <c:idx val="2"/>
            <c:invertIfNegative val="0"/>
            <c:bubble3D val="0"/>
            <c:spPr>
              <a:solidFill>
                <a:srgbClr val="2F5D8C"/>
              </a:solidFill>
              <a:effectLst/>
            </c:spPr>
          </c:dPt>
          <c:dPt>
            <c:idx val="3"/>
            <c:invertIfNegative val="0"/>
            <c:bubble3D val="0"/>
            <c:spPr>
              <a:solidFill>
                <a:srgbClr val="14213D"/>
              </a:solidFill>
              <a:effectLst/>
            </c:spPr>
          </c:dPt>
          <c:cat>
            <c:multiLvlStrRef>
              <c:f>Sheet1!$A$2:$A$5</c:f>
              <c:multiLvlStrCache>
                <c:ptCount val="4"/>
                <c:lvl>
                  <c:pt idx="0">
                    <c:v>Logistic Regression</c:v>
                  </c:pt>
                  <c:pt idx="1">
                    <c:v>RoBERTa-base</c:v>
                  </c:pt>
                  <c:pt idx="2">
                    <c:v>RoBERTa-BiLSTM</c:v>
                  </c:pt>
                  <c:pt idx="3">
                    <c:v>ModernBERT + attention pooling</c:v>
                  </c:pt>
                </c:lvl>
              </c:multiLvlStrCache>
            </c:multiLvlStrRef>
          </c:cat>
          <c:val>
            <c:numRef>
              <c:f>Sheet1!$B$2:$B$5</c:f>
              <c:numCache>
                <c:formatCode>General</c:formatCode>
                <c:ptCount val="4"/>
                <c:pt idx="0">
                  <c:v>87.12</c:v>
                </c:pt>
                <c:pt idx="1">
                  <c:v>91.32</c:v>
                </c:pt>
                <c:pt idx="2">
                  <c:v>92.36</c:v>
                </c:pt>
                <c:pt idx="3">
                  <c:v>95.93</c:v>
                </c:pt>
              </c:numCache>
            </c:numRef>
          </c:val>
        </c:ser>
        <c:dLbls>
          <c:numFmt formatCode="0.00&quot;%&quot;" sourceLinked="0"/>
          <c:txPr>
            <a:bodyPr/>
            <a:lstStyle/>
            <a:p>
              <a:pPr>
                <a:defRPr b="1" i="0" strike="noStrike" sz="12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ax val="100"/>
          <c:min val="80"/>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A8F"/>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Pranav and Satyam. Our project classifies IMDb movie reviews as positive or negative using ModernBERT with an attention-pooling head, under Dr. Amit Kumar Nandanwar. In the next 15 minutes we cover the problem, our method, the results, and the limits of what those results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follows the structure of the report: motivation and related work first, then our design and implementation, and finally results with an honest discussion of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Sentiment analysis turns free text into a label that businesses can aggregate. Movie reviews are hard because opinion words are mixed with plot description. The reference study, RoBERTa-BiLSTM, reached 92.36 percent accuracy using an extra recurrent layer. We ask whether a lighter attention-pooling head on a newer encoder can do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systems used hand-made features such as TF-IDF and reached about 87 percent. Pretrained transformers jumped to 91 percent. Adding a BiLSTM on top pushed the published result to 92.36 percent but adds sequential computation. Our model replaces the BiLSTM with attention pooling and uses ModernBERT as the encoder. Note that the last number is from our own run, not from the same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binary sentiment classification of long reviews. The gap: the published hybrid model needs a recurrent layer, and nobody has reported the combination we propose. That gives our research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The third one is the core build; the fifth, comparing honestly, shapes how we word every claim later in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from 50,000 labelled reviews and remove 418 exact duplicates so the same review cannot appear in both training and test. That leaves 49,582, split roughly 80, 10, 10. The test set of 4,959 reviews is only used once,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encoder we fine-tune, from the ModernBERT paper. Twenty-two layers, hidden size 768. Each layer has an attention block with rotary embeddings and a GeGLU feed-forward block, both with residual connections. Most layers use local attention and every third layer attends globally, which keeps long inputs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is tokenized and passed through ModernBERT. Two branches run in parallel: the CLS vector, and the attention-pooling branch that learns a score for each token and forms a weighted sum. We concatenate them into a 1,536-dimensional vector and classify with fully connected layers. The attention weights let strong opinion phrases count more than filler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runs for three epochs. The pretrained encoder gets a small learning rate so it adapts gently; the new pooling and classification layers start from scratch so they get a larger one. After every epoch we validate and keep the best checkpoint. Only that checkpoint ever touches the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standard open-source tooling, so the experiment can be repeated on free cloud hardware. The Tesla T4 has 16 GB of memory, which is why we cap sequences at 512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4,959 held-out reviews the model reaches 95.93 percent accuracy and the same weighted F1. Validation accuracy was 96.07 percent, so the gap is only 0.14 points. Precision and recall are about 96 percent for both classes, and the 202 errors split almost evenly: 93 negative reviews called positive, 109 positive called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accuracy is 3.57 percentage points above the published RoBERTa-BiLSTM, which is roughly 47 percent fewer errors. But the baselines come from the reference paper, with a different encoder, different split and different environment. So this shows our model performs well, not that attention pooling alone caused the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clear about claims. The validation and test numbers agree, and the classes are balanced. But we compared against published numbers, not a reproduced baseline, so we cannot say which component produced the gain, and we cannot claim better efficiency. These are the limits the future work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ModernBERT with attention pooling gives 95.93 percent accuracy on IMDb without any recurrent layer. The next step is a controlled study, with a reproduced baseline on the same split, ablations of the pooling head and multiple seeds, to show which component really matters.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ModernBERT with Attention Pooling  |  IIIT Bhopal</a:t>
            </a:r>
            <a:endParaRPr lang="en-US" sz="1000" dirty="0"/>
          </a:p>
        </p:txBody>
      </p:sp>
      <p:sp>
        <p:nvSpPr>
          <p:cNvPr id="3" name="Text 1"/>
          <p:cNvSpPr/>
          <p:nvPr>
            <p:ph idx="101"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5943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B.TECH PROJECT REPORT  |  PHASE I / II / III</a:t>
            </a:r>
            <a:endParaRPr lang="en-US" sz="1200" dirty="0"/>
          </a:p>
        </p:txBody>
      </p:sp>
      <p:sp>
        <p:nvSpPr>
          <p:cNvPr id="3" name="Text 1"/>
          <p:cNvSpPr txBox="1"/>
          <p:nvPr/>
        </p:nvSpPr>
        <p:spPr>
          <a:xfrm>
            <a:off x="548640" y="914400"/>
            <a:ext cx="5943600" cy="173736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Sentiment Analysis of IMDb Movie Reviews Using ModernBERT with Attention Pooling</a:t>
            </a:r>
            <a:endParaRPr lang="en-US" sz="3000" dirty="0"/>
          </a:p>
        </p:txBody>
      </p:sp>
      <p:sp>
        <p:nvSpPr>
          <p:cNvPr id="4" name="Text 2"/>
          <p:cNvSpPr txBox="1"/>
          <p:nvPr/>
        </p:nvSpPr>
        <p:spPr>
          <a:xfrm>
            <a:off x="548640" y="2880360"/>
            <a:ext cx="5943600" cy="640080"/>
          </a:xfrm>
          <a:prstGeom prst="rect">
            <a:avLst/>
          </a:prstGeom>
          <a:noFill/>
          <a:ln/>
        </p:spPr>
        <p:txBody>
          <a:bodyPr wrap="square" lIns="0" tIns="0" rIns="0" bIns="0" rtlCol="0" anchor="ctr"/>
          <a:lstStyle/>
          <a:p>
            <a:pPr indent="0" marL="0">
              <a:buNone/>
            </a:pPr>
            <a:r>
              <a:rPr lang="en-US" sz="1600" b="1" dirty="0">
                <a:solidFill>
                  <a:schemeClr val="bg1"/>
                </a:solidFill>
              </a:rPr>
              <a:t>Polawar Pranav Shirish (24U020088)</a:t>
            </a:r>
            <a:endParaRPr lang="en-US" sz="1600" dirty="0"/>
          </a:p>
          <a:p>
            <a:pPr indent="0" marL="0">
              <a:buNone/>
            </a:pPr>
            <a:r>
              <a:rPr lang="en-US" sz="1600" b="1" dirty="0">
                <a:solidFill>
                  <a:schemeClr val="bg1"/>
                </a:solidFill>
              </a:rPr>
              <a:t>Satyam Raj (24U020098)</a:t>
            </a:r>
            <a:endParaRPr lang="en-US" sz="1600" dirty="0"/>
          </a:p>
        </p:txBody>
      </p:sp>
      <p:sp>
        <p:nvSpPr>
          <p:cNvPr id="5" name="Text 3"/>
          <p:cNvSpPr txBox="1"/>
          <p:nvPr/>
        </p:nvSpPr>
        <p:spPr>
          <a:xfrm>
            <a:off x="548640" y="3611880"/>
            <a:ext cx="5943600" cy="594360"/>
          </a:xfrm>
          <a:prstGeom prst="rect">
            <a:avLst/>
          </a:prstGeom>
          <a:noFill/>
          <a:ln/>
        </p:spPr>
        <p:txBody>
          <a:bodyPr wrap="square" lIns="0" tIns="0" rIns="0" bIns="0" rtlCol="0" anchor="ctr"/>
          <a:lstStyle/>
          <a:p>
            <a:pPr indent="0" marL="0">
              <a:buNone/>
            </a:pPr>
            <a:r>
              <a:rPr lang="en-US" sz="1400" dirty="0">
                <a:solidFill>
                  <a:schemeClr val="bg2"/>
                </a:solidFill>
              </a:rPr>
              <a:t>Supervisor: Dr. Amit Kumar Nandanwar</a:t>
            </a:r>
            <a:endParaRPr lang="en-US" sz="1400" dirty="0"/>
          </a:p>
          <a:p>
            <a:pPr indent="0" marL="0">
              <a:buNone/>
            </a:pPr>
            <a:r>
              <a:rPr lang="en-US" sz="1400" dirty="0">
                <a:solidFill>
                  <a:schemeClr val="bg2"/>
                </a:solidFill>
              </a:rPr>
              <a:t>Assistant Professor, Computer Science and Engineering</a:t>
            </a:r>
            <a:endParaRPr lang="en-US" sz="1400" dirty="0"/>
          </a:p>
        </p:txBody>
      </p:sp>
      <p:sp>
        <p:nvSpPr>
          <p:cNvPr id="6" name="Text 4"/>
          <p:cNvSpPr txBox="1"/>
          <p:nvPr/>
        </p:nvSpPr>
        <p:spPr>
          <a:xfrm>
            <a:off x="548640" y="4434840"/>
            <a:ext cx="7589520" cy="274320"/>
          </a:xfrm>
          <a:prstGeom prst="rect">
            <a:avLst/>
          </a:prstGeom>
          <a:noFill/>
          <a:ln/>
        </p:spPr>
        <p:txBody>
          <a:bodyPr wrap="square" lIns="0" tIns="0" rIns="0" bIns="0" rtlCol="0" anchor="ctr"/>
          <a:lstStyle/>
          <a:p>
            <a:pPr indent="0" marL="0">
              <a:buNone/>
            </a:pPr>
            <a:r>
              <a:rPr lang="en-US" sz="1200" dirty="0">
                <a:solidFill>
                  <a:schemeClr val="accent6"/>
                </a:solidFill>
              </a:rPr>
              <a:t>Indian Institute of Information Technology, Bhopal (M.P.)  |  October 2026</a:t>
            </a:r>
            <a:endParaRPr lang="en-US" sz="1200" dirty="0"/>
          </a:p>
        </p:txBody>
      </p:sp>
      <p:sp>
        <p:nvSpPr>
          <p:cNvPr id="7" name="Logo card"/>
          <p:cNvSpPr/>
          <p:nvPr/>
        </p:nvSpPr>
        <p:spPr>
          <a:xfrm>
            <a:off x="6812280" y="1051560"/>
            <a:ext cx="1783080" cy="1783080"/>
          </a:xfrm>
          <a:prstGeom prst="roundRect">
            <a:avLst>
              <a:gd name="adj" fmla="val 7692"/>
            </a:avLst>
          </a:prstGeom>
          <a:solidFill>
            <a:schemeClr val="bg1"/>
          </a:solidFill>
          <a:ln w="12700">
            <a:solidFill>
              <a:schemeClr val="bg1"/>
            </a:solidFill>
            <a:prstDash val="solid"/>
          </a:ln>
        </p:spPr>
      </p:sp>
      <p:pic>
        <p:nvPicPr>
          <p:cNvPr id="8" name="Image 0" descr="IIIT Bhopal logo">    </p:cNvPr>
          <p:cNvPicPr>
            <a:picLocks noChangeAspect="1"/>
          </p:cNvPicPr>
          <p:nvPr/>
        </p:nvPicPr>
        <p:blipFill>
          <a:blip r:embed="rId1"/>
          <a:stretch>
            <a:fillRect/>
          </a:stretch>
        </p:blipFill>
        <p:spPr>
          <a:xfrm>
            <a:off x="6949440" y="1188720"/>
            <a:ext cx="1508760" cy="1508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Outline</a:t>
            </a:r>
            <a:endParaRPr lang="en-US" sz="3200" dirty="0"/>
          </a:p>
        </p:txBody>
      </p:sp>
      <p:sp>
        <p:nvSpPr>
          <p:cNvPr id="3" name="Outline card 1"/>
          <p:cNvSpPr/>
          <p:nvPr/>
        </p:nvSpPr>
        <p:spPr>
          <a:xfrm>
            <a:off x="457200" y="1234440"/>
            <a:ext cx="4023360" cy="658368"/>
          </a:xfrm>
          <a:prstGeom prst="rect">
            <a:avLst/>
          </a:prstGeom>
          <a:solidFill>
            <a:schemeClr val="bg2"/>
          </a:solidFill>
          <a:ln w="12700">
            <a:solidFill>
              <a:schemeClr val="bg2"/>
            </a:solidFill>
            <a:prstDash val="solid"/>
          </a:ln>
        </p:spPr>
      </p:sp>
      <p:sp>
        <p:nvSpPr>
          <p:cNvPr id="4" name="Number badge 1"/>
          <p:cNvSpPr/>
          <p:nvPr/>
        </p:nvSpPr>
        <p:spPr>
          <a:xfrm>
            <a:off x="594360" y="1353312"/>
            <a:ext cx="420624" cy="420624"/>
          </a:xfrm>
          <a:prstGeom prst="ellipse">
            <a:avLst/>
          </a:prstGeom>
          <a:solidFill>
            <a:schemeClr val="tx2"/>
          </a:solidFill>
          <a:ln w="12700">
            <a:solidFill>
              <a:schemeClr val="tx2"/>
            </a:solidFill>
            <a:prstDash val="solid"/>
          </a:ln>
        </p:spPr>
      </p:sp>
      <p:sp>
        <p:nvSpPr>
          <p:cNvPr id="5" name="Text 3"/>
          <p:cNvSpPr txBox="1"/>
          <p:nvPr/>
        </p:nvSpPr>
        <p:spPr>
          <a:xfrm>
            <a:off x="594360" y="135331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188720" y="1234440"/>
            <a:ext cx="3200400" cy="658368"/>
          </a:xfrm>
          <a:prstGeom prst="rect">
            <a:avLst/>
          </a:prstGeom>
          <a:noFill/>
          <a:ln/>
        </p:spPr>
        <p:txBody>
          <a:bodyPr wrap="square" lIns="0" tIns="0" rIns="0" bIns="0" rtlCol="0" anchor="ctr"/>
          <a:lstStyle/>
          <a:p>
            <a:pPr indent="0" marL="0">
              <a:buNone/>
            </a:pPr>
            <a:r>
              <a:rPr lang="en-US" sz="1600" dirty="0">
                <a:solidFill>
                  <a:schemeClr val="tx1"/>
                </a:solidFill>
              </a:rPr>
              <a:t>Introduction and motivation</a:t>
            </a:r>
            <a:endParaRPr lang="en-US" sz="1600" dirty="0"/>
          </a:p>
        </p:txBody>
      </p:sp>
      <p:sp>
        <p:nvSpPr>
          <p:cNvPr id="7" name="Outline card 2"/>
          <p:cNvSpPr/>
          <p:nvPr/>
        </p:nvSpPr>
        <p:spPr>
          <a:xfrm>
            <a:off x="457200" y="2057400"/>
            <a:ext cx="4023360" cy="658368"/>
          </a:xfrm>
          <a:prstGeom prst="rect">
            <a:avLst/>
          </a:prstGeom>
          <a:solidFill>
            <a:schemeClr val="bg2"/>
          </a:solidFill>
          <a:ln w="12700">
            <a:solidFill>
              <a:schemeClr val="bg2"/>
            </a:solidFill>
            <a:prstDash val="solid"/>
          </a:ln>
        </p:spPr>
      </p:sp>
      <p:sp>
        <p:nvSpPr>
          <p:cNvPr id="8" name="Number badge 2"/>
          <p:cNvSpPr/>
          <p:nvPr/>
        </p:nvSpPr>
        <p:spPr>
          <a:xfrm>
            <a:off x="594360" y="2176272"/>
            <a:ext cx="420624" cy="420624"/>
          </a:xfrm>
          <a:prstGeom prst="ellipse">
            <a:avLst/>
          </a:prstGeom>
          <a:solidFill>
            <a:schemeClr val="tx2"/>
          </a:solidFill>
          <a:ln w="12700">
            <a:solidFill>
              <a:schemeClr val="tx2"/>
            </a:solidFill>
            <a:prstDash val="solid"/>
          </a:ln>
        </p:spPr>
      </p:sp>
      <p:sp>
        <p:nvSpPr>
          <p:cNvPr id="9" name="Text 7"/>
          <p:cNvSpPr txBox="1"/>
          <p:nvPr/>
        </p:nvSpPr>
        <p:spPr>
          <a:xfrm>
            <a:off x="594360" y="217627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188720" y="2057400"/>
            <a:ext cx="3200400" cy="658368"/>
          </a:xfrm>
          <a:prstGeom prst="rect">
            <a:avLst/>
          </a:prstGeom>
          <a:noFill/>
          <a:ln/>
        </p:spPr>
        <p:txBody>
          <a:bodyPr wrap="square" lIns="0" tIns="0" rIns="0" bIns="0" rtlCol="0" anchor="ctr"/>
          <a:lstStyle/>
          <a:p>
            <a:pPr indent="0" marL="0">
              <a:buNone/>
            </a:pPr>
            <a:r>
              <a:rPr lang="en-US" sz="1600" dirty="0">
                <a:solidFill>
                  <a:schemeClr val="tx1"/>
                </a:solidFill>
              </a:rPr>
              <a:t>Literature review</a:t>
            </a:r>
            <a:endParaRPr lang="en-US" sz="1600" dirty="0"/>
          </a:p>
        </p:txBody>
      </p:sp>
      <p:sp>
        <p:nvSpPr>
          <p:cNvPr id="11" name="Outline card 3"/>
          <p:cNvSpPr/>
          <p:nvPr/>
        </p:nvSpPr>
        <p:spPr>
          <a:xfrm>
            <a:off x="457200" y="2880360"/>
            <a:ext cx="4023360" cy="658368"/>
          </a:xfrm>
          <a:prstGeom prst="rect">
            <a:avLst/>
          </a:prstGeom>
          <a:solidFill>
            <a:schemeClr val="bg2"/>
          </a:solidFill>
          <a:ln w="12700">
            <a:solidFill>
              <a:schemeClr val="bg2"/>
            </a:solidFill>
            <a:prstDash val="solid"/>
          </a:ln>
        </p:spPr>
      </p:sp>
      <p:sp>
        <p:nvSpPr>
          <p:cNvPr id="12" name="Number badge 3"/>
          <p:cNvSpPr/>
          <p:nvPr/>
        </p:nvSpPr>
        <p:spPr>
          <a:xfrm>
            <a:off x="594360" y="2999232"/>
            <a:ext cx="420624" cy="420624"/>
          </a:xfrm>
          <a:prstGeom prst="ellipse">
            <a:avLst/>
          </a:prstGeom>
          <a:solidFill>
            <a:schemeClr val="tx2"/>
          </a:solidFill>
          <a:ln w="12700">
            <a:solidFill>
              <a:schemeClr val="tx2"/>
            </a:solidFill>
            <a:prstDash val="solid"/>
          </a:ln>
        </p:spPr>
      </p:sp>
      <p:sp>
        <p:nvSpPr>
          <p:cNvPr id="13" name="Text 11"/>
          <p:cNvSpPr txBox="1"/>
          <p:nvPr/>
        </p:nvSpPr>
        <p:spPr>
          <a:xfrm>
            <a:off x="594360" y="299923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2"/>
          <p:cNvSpPr txBox="1"/>
          <p:nvPr/>
        </p:nvSpPr>
        <p:spPr>
          <a:xfrm>
            <a:off x="1188720" y="2880360"/>
            <a:ext cx="3200400" cy="658368"/>
          </a:xfrm>
          <a:prstGeom prst="rect">
            <a:avLst/>
          </a:prstGeom>
          <a:noFill/>
          <a:ln/>
        </p:spPr>
        <p:txBody>
          <a:bodyPr wrap="square" lIns="0" tIns="0" rIns="0" bIns="0" rtlCol="0" anchor="ctr"/>
          <a:lstStyle/>
          <a:p>
            <a:pPr indent="0" marL="0">
              <a:buNone/>
            </a:pPr>
            <a:r>
              <a:rPr lang="en-US" sz="1600" dirty="0">
                <a:solidFill>
                  <a:schemeClr val="tx1"/>
                </a:solidFill>
              </a:rPr>
              <a:t>Problem and objectives</a:t>
            </a:r>
            <a:endParaRPr lang="en-US" sz="1600" dirty="0"/>
          </a:p>
        </p:txBody>
      </p:sp>
      <p:sp>
        <p:nvSpPr>
          <p:cNvPr id="15" name="Outline card 4"/>
          <p:cNvSpPr/>
          <p:nvPr/>
        </p:nvSpPr>
        <p:spPr>
          <a:xfrm>
            <a:off x="457200" y="3703320"/>
            <a:ext cx="4023360" cy="658368"/>
          </a:xfrm>
          <a:prstGeom prst="rect">
            <a:avLst/>
          </a:prstGeom>
          <a:solidFill>
            <a:schemeClr val="bg2"/>
          </a:solidFill>
          <a:ln w="12700">
            <a:solidFill>
              <a:schemeClr val="bg2"/>
            </a:solidFill>
            <a:prstDash val="solid"/>
          </a:ln>
        </p:spPr>
      </p:sp>
      <p:sp>
        <p:nvSpPr>
          <p:cNvPr id="16" name="Number badge 4"/>
          <p:cNvSpPr/>
          <p:nvPr/>
        </p:nvSpPr>
        <p:spPr>
          <a:xfrm>
            <a:off x="594360" y="3822192"/>
            <a:ext cx="420624" cy="420624"/>
          </a:xfrm>
          <a:prstGeom prst="ellipse">
            <a:avLst/>
          </a:prstGeom>
          <a:solidFill>
            <a:schemeClr val="tx2"/>
          </a:solidFill>
          <a:ln w="12700">
            <a:solidFill>
              <a:schemeClr val="tx2"/>
            </a:solidFill>
            <a:prstDash val="solid"/>
          </a:ln>
        </p:spPr>
      </p:sp>
      <p:sp>
        <p:nvSpPr>
          <p:cNvPr id="17" name="Text 15"/>
          <p:cNvSpPr txBox="1"/>
          <p:nvPr/>
        </p:nvSpPr>
        <p:spPr>
          <a:xfrm>
            <a:off x="594360" y="382219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 16"/>
          <p:cNvSpPr txBox="1"/>
          <p:nvPr/>
        </p:nvSpPr>
        <p:spPr>
          <a:xfrm>
            <a:off x="1188720" y="3703320"/>
            <a:ext cx="3200400" cy="658368"/>
          </a:xfrm>
          <a:prstGeom prst="rect">
            <a:avLst/>
          </a:prstGeom>
          <a:noFill/>
          <a:ln/>
        </p:spPr>
        <p:txBody>
          <a:bodyPr wrap="square" lIns="0" tIns="0" rIns="0" bIns="0" rtlCol="0" anchor="ctr"/>
          <a:lstStyle/>
          <a:p>
            <a:pPr indent="0" marL="0">
              <a:buNone/>
            </a:pPr>
            <a:r>
              <a:rPr lang="en-US" sz="1600" dirty="0">
                <a:solidFill>
                  <a:schemeClr val="tx1"/>
                </a:solidFill>
              </a:rPr>
              <a:t>Dataset and methodology</a:t>
            </a:r>
            <a:endParaRPr lang="en-US" sz="1600" dirty="0"/>
          </a:p>
        </p:txBody>
      </p:sp>
      <p:sp>
        <p:nvSpPr>
          <p:cNvPr id="19" name="Outline card 5"/>
          <p:cNvSpPr/>
          <p:nvPr/>
        </p:nvSpPr>
        <p:spPr>
          <a:xfrm>
            <a:off x="4663440" y="1234440"/>
            <a:ext cx="4023360" cy="658368"/>
          </a:xfrm>
          <a:prstGeom prst="rect">
            <a:avLst/>
          </a:prstGeom>
          <a:solidFill>
            <a:schemeClr val="bg2"/>
          </a:solidFill>
          <a:ln w="12700">
            <a:solidFill>
              <a:schemeClr val="bg2"/>
            </a:solidFill>
            <a:prstDash val="solid"/>
          </a:ln>
        </p:spPr>
      </p:sp>
      <p:sp>
        <p:nvSpPr>
          <p:cNvPr id="20" name="Number badge 5"/>
          <p:cNvSpPr/>
          <p:nvPr/>
        </p:nvSpPr>
        <p:spPr>
          <a:xfrm>
            <a:off x="4800600" y="1353312"/>
            <a:ext cx="420624" cy="420624"/>
          </a:xfrm>
          <a:prstGeom prst="ellipse">
            <a:avLst/>
          </a:prstGeom>
          <a:solidFill>
            <a:schemeClr val="tx2"/>
          </a:solidFill>
          <a:ln w="12700">
            <a:solidFill>
              <a:schemeClr val="tx2"/>
            </a:solidFill>
            <a:prstDash val="solid"/>
          </a:ln>
        </p:spPr>
      </p:sp>
      <p:sp>
        <p:nvSpPr>
          <p:cNvPr id="21" name="Text 19"/>
          <p:cNvSpPr txBox="1"/>
          <p:nvPr/>
        </p:nvSpPr>
        <p:spPr>
          <a:xfrm>
            <a:off x="4800600" y="135331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Text 20"/>
          <p:cNvSpPr txBox="1"/>
          <p:nvPr/>
        </p:nvSpPr>
        <p:spPr>
          <a:xfrm>
            <a:off x="5394960" y="1234440"/>
            <a:ext cx="3200400" cy="658368"/>
          </a:xfrm>
          <a:prstGeom prst="rect">
            <a:avLst/>
          </a:prstGeom>
          <a:noFill/>
          <a:ln/>
        </p:spPr>
        <p:txBody>
          <a:bodyPr wrap="square" lIns="0" tIns="0" rIns="0" bIns="0" rtlCol="0" anchor="ctr"/>
          <a:lstStyle/>
          <a:p>
            <a:pPr indent="0" marL="0">
              <a:buNone/>
            </a:pPr>
            <a:r>
              <a:rPr lang="en-US" sz="1600" dirty="0">
                <a:solidFill>
                  <a:schemeClr val="tx1"/>
                </a:solidFill>
              </a:rPr>
              <a:t>Model architecture</a:t>
            </a:r>
            <a:endParaRPr lang="en-US" sz="1600" dirty="0"/>
          </a:p>
        </p:txBody>
      </p:sp>
      <p:sp>
        <p:nvSpPr>
          <p:cNvPr id="23" name="Outline card 6"/>
          <p:cNvSpPr/>
          <p:nvPr/>
        </p:nvSpPr>
        <p:spPr>
          <a:xfrm>
            <a:off x="4663440" y="2057400"/>
            <a:ext cx="4023360" cy="658368"/>
          </a:xfrm>
          <a:prstGeom prst="rect">
            <a:avLst/>
          </a:prstGeom>
          <a:solidFill>
            <a:schemeClr val="bg2"/>
          </a:solidFill>
          <a:ln w="12700">
            <a:solidFill>
              <a:schemeClr val="bg2"/>
            </a:solidFill>
            <a:prstDash val="solid"/>
          </a:ln>
        </p:spPr>
      </p:sp>
      <p:sp>
        <p:nvSpPr>
          <p:cNvPr id="24" name="Number badge 6"/>
          <p:cNvSpPr/>
          <p:nvPr/>
        </p:nvSpPr>
        <p:spPr>
          <a:xfrm>
            <a:off x="4800600" y="2176272"/>
            <a:ext cx="420624" cy="420624"/>
          </a:xfrm>
          <a:prstGeom prst="ellipse">
            <a:avLst/>
          </a:prstGeom>
          <a:solidFill>
            <a:schemeClr val="tx2"/>
          </a:solidFill>
          <a:ln w="12700">
            <a:solidFill>
              <a:schemeClr val="tx2"/>
            </a:solidFill>
            <a:prstDash val="solid"/>
          </a:ln>
        </p:spPr>
      </p:sp>
      <p:sp>
        <p:nvSpPr>
          <p:cNvPr id="25" name="Text 23"/>
          <p:cNvSpPr txBox="1"/>
          <p:nvPr/>
        </p:nvSpPr>
        <p:spPr>
          <a:xfrm>
            <a:off x="4800600" y="217627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6" name="Text 24"/>
          <p:cNvSpPr txBox="1"/>
          <p:nvPr/>
        </p:nvSpPr>
        <p:spPr>
          <a:xfrm>
            <a:off x="5394960" y="2057400"/>
            <a:ext cx="3200400" cy="658368"/>
          </a:xfrm>
          <a:prstGeom prst="rect">
            <a:avLst/>
          </a:prstGeom>
          <a:noFill/>
          <a:ln/>
        </p:spPr>
        <p:txBody>
          <a:bodyPr wrap="square" lIns="0" tIns="0" rIns="0" bIns="0" rtlCol="0" anchor="ctr"/>
          <a:lstStyle/>
          <a:p>
            <a:pPr indent="0" marL="0">
              <a:buNone/>
            </a:pPr>
            <a:r>
              <a:rPr lang="en-US" sz="1600" dirty="0">
                <a:solidFill>
                  <a:schemeClr val="tx1"/>
                </a:solidFill>
              </a:rPr>
              <a:t>Implementation and tools</a:t>
            </a:r>
            <a:endParaRPr lang="en-US" sz="1600" dirty="0"/>
          </a:p>
        </p:txBody>
      </p:sp>
      <p:sp>
        <p:nvSpPr>
          <p:cNvPr id="27" name="Outline card 7"/>
          <p:cNvSpPr/>
          <p:nvPr/>
        </p:nvSpPr>
        <p:spPr>
          <a:xfrm>
            <a:off x="4663440" y="2880360"/>
            <a:ext cx="4023360" cy="658368"/>
          </a:xfrm>
          <a:prstGeom prst="rect">
            <a:avLst/>
          </a:prstGeom>
          <a:solidFill>
            <a:schemeClr val="bg2"/>
          </a:solidFill>
          <a:ln w="12700">
            <a:solidFill>
              <a:schemeClr val="bg2"/>
            </a:solidFill>
            <a:prstDash val="solid"/>
          </a:ln>
        </p:spPr>
      </p:sp>
      <p:sp>
        <p:nvSpPr>
          <p:cNvPr id="28" name="Number badge 7"/>
          <p:cNvSpPr/>
          <p:nvPr/>
        </p:nvSpPr>
        <p:spPr>
          <a:xfrm>
            <a:off x="4800600" y="2999232"/>
            <a:ext cx="420624" cy="420624"/>
          </a:xfrm>
          <a:prstGeom prst="ellipse">
            <a:avLst/>
          </a:prstGeom>
          <a:solidFill>
            <a:schemeClr val="tx2"/>
          </a:solidFill>
          <a:ln w="12700">
            <a:solidFill>
              <a:schemeClr val="tx2"/>
            </a:solidFill>
            <a:prstDash val="solid"/>
          </a:ln>
        </p:spPr>
      </p:sp>
      <p:sp>
        <p:nvSpPr>
          <p:cNvPr id="29" name="Text 27"/>
          <p:cNvSpPr txBox="1"/>
          <p:nvPr/>
        </p:nvSpPr>
        <p:spPr>
          <a:xfrm>
            <a:off x="4800600" y="299923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0" name="Text 28"/>
          <p:cNvSpPr txBox="1"/>
          <p:nvPr/>
        </p:nvSpPr>
        <p:spPr>
          <a:xfrm>
            <a:off x="5394960" y="2880360"/>
            <a:ext cx="3200400" cy="658368"/>
          </a:xfrm>
          <a:prstGeom prst="rect">
            <a:avLst/>
          </a:prstGeom>
          <a:noFill/>
          <a:ln/>
        </p:spPr>
        <p:txBody>
          <a:bodyPr wrap="square" lIns="0" tIns="0" rIns="0" bIns="0" rtlCol="0" anchor="ctr"/>
          <a:lstStyle/>
          <a:p>
            <a:pPr indent="0" marL="0">
              <a:buNone/>
            </a:pPr>
            <a:r>
              <a:rPr lang="en-US" sz="1600" dirty="0">
                <a:solidFill>
                  <a:schemeClr val="tx1"/>
                </a:solidFill>
              </a:rPr>
              <a:t>Results and comparison</a:t>
            </a:r>
            <a:endParaRPr lang="en-US" sz="1600" dirty="0"/>
          </a:p>
        </p:txBody>
      </p:sp>
      <p:sp>
        <p:nvSpPr>
          <p:cNvPr id="31" name="Outline card 8"/>
          <p:cNvSpPr/>
          <p:nvPr/>
        </p:nvSpPr>
        <p:spPr>
          <a:xfrm>
            <a:off x="4663440" y="3703320"/>
            <a:ext cx="4023360" cy="658368"/>
          </a:xfrm>
          <a:prstGeom prst="rect">
            <a:avLst/>
          </a:prstGeom>
          <a:solidFill>
            <a:schemeClr val="bg2"/>
          </a:solidFill>
          <a:ln w="12700">
            <a:solidFill>
              <a:schemeClr val="bg2"/>
            </a:solidFill>
            <a:prstDash val="solid"/>
          </a:ln>
        </p:spPr>
      </p:sp>
      <p:sp>
        <p:nvSpPr>
          <p:cNvPr id="32" name="Number badge 8"/>
          <p:cNvSpPr/>
          <p:nvPr/>
        </p:nvSpPr>
        <p:spPr>
          <a:xfrm>
            <a:off x="4800600" y="3822192"/>
            <a:ext cx="420624" cy="420624"/>
          </a:xfrm>
          <a:prstGeom prst="ellipse">
            <a:avLst/>
          </a:prstGeom>
          <a:solidFill>
            <a:schemeClr val="tx2"/>
          </a:solidFill>
          <a:ln w="12700">
            <a:solidFill>
              <a:schemeClr val="tx2"/>
            </a:solidFill>
            <a:prstDash val="solid"/>
          </a:ln>
        </p:spPr>
      </p:sp>
      <p:sp>
        <p:nvSpPr>
          <p:cNvPr id="33" name="Text 31"/>
          <p:cNvSpPr txBox="1"/>
          <p:nvPr/>
        </p:nvSpPr>
        <p:spPr>
          <a:xfrm>
            <a:off x="4800600" y="382219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34" name="Text 32"/>
          <p:cNvSpPr txBox="1"/>
          <p:nvPr/>
        </p:nvSpPr>
        <p:spPr>
          <a:xfrm>
            <a:off x="5394960" y="3703320"/>
            <a:ext cx="3200400" cy="658368"/>
          </a:xfrm>
          <a:prstGeom prst="rect">
            <a:avLst/>
          </a:prstGeom>
          <a:noFill/>
          <a:ln/>
        </p:spPr>
        <p:txBody>
          <a:bodyPr wrap="square" lIns="0" tIns="0" rIns="0" bIns="0" rtlCol="0" anchor="ctr"/>
          <a:lstStyle/>
          <a:p>
            <a:pPr indent="0" marL="0">
              <a:buNone/>
            </a:pPr>
            <a:r>
              <a:rPr lang="en-US" sz="1600" dirty="0">
                <a:solidFill>
                  <a:schemeClr val="tx1"/>
                </a:solidFill>
              </a:rPr>
              <a:t>Conclusion and future scope</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Why Sentiment Analysis Matters</a:t>
            </a:r>
            <a:endParaRPr lang="en-US" sz="3200" dirty="0"/>
          </a:p>
        </p:txBody>
      </p:sp>
      <p:sp>
        <p:nvSpPr>
          <p:cNvPr id="3" name="Intro card 1"/>
          <p:cNvSpPr/>
          <p:nvPr/>
        </p:nvSpPr>
        <p:spPr>
          <a:xfrm>
            <a:off x="457200" y="1188720"/>
            <a:ext cx="5029200" cy="1005840"/>
          </a:xfrm>
          <a:prstGeom prst="rect">
            <a:avLst/>
          </a:prstGeom>
          <a:solidFill>
            <a:schemeClr val="bg2"/>
          </a:solidFill>
          <a:ln w="12700">
            <a:solidFill>
              <a:schemeClr val="bg2"/>
            </a:solidFill>
            <a:prstDash val="solid"/>
          </a:ln>
        </p:spPr>
      </p:sp>
      <p:sp>
        <p:nvSpPr>
          <p:cNvPr id="4" name="Icon circle 1"/>
          <p:cNvSpPr/>
          <p:nvPr/>
        </p:nvSpPr>
        <p:spPr>
          <a:xfrm>
            <a:off x="640080" y="1435608"/>
            <a:ext cx="512064" cy="512064"/>
          </a:xfrm>
          <a:prstGeom prst="ellipse">
            <a:avLst/>
          </a:prstGeom>
          <a:solidFill>
            <a:schemeClr val="tx2"/>
          </a:solidFill>
          <a:ln w="12700">
            <a:solidFill>
              <a:schemeClr val="tx2"/>
            </a:solidFill>
            <a:prstDash val="solid"/>
          </a:ln>
        </p:spPr>
      </p:sp>
      <p:pic>
        <p:nvPicPr>
          <p:cNvPr id="5" name="Image 0" descr="Opinions at scale">    </p:cNvPr>
          <p:cNvPicPr>
            <a:picLocks noChangeAspect="1"/>
          </p:cNvPicPr>
          <p:nvPr/>
        </p:nvPicPr>
        <p:blipFill>
          <a:blip r:embed="rId1"/>
          <a:stretch>
            <a:fillRect/>
          </a:stretch>
        </p:blipFill>
        <p:spPr>
          <a:xfrm>
            <a:off x="768096" y="1563624"/>
            <a:ext cx="256032" cy="256032"/>
          </a:xfrm>
          <a:prstGeom prst="rect">
            <a:avLst/>
          </a:prstGeom>
        </p:spPr>
      </p:pic>
      <p:sp>
        <p:nvSpPr>
          <p:cNvPr id="6" name="Text 3"/>
          <p:cNvSpPr txBox="1"/>
          <p:nvPr/>
        </p:nvSpPr>
        <p:spPr>
          <a:xfrm>
            <a:off x="1371600" y="1280160"/>
            <a:ext cx="3977640" cy="292608"/>
          </a:xfrm>
          <a:prstGeom prst="rect">
            <a:avLst/>
          </a:prstGeom>
          <a:noFill/>
          <a:ln/>
        </p:spPr>
        <p:txBody>
          <a:bodyPr wrap="square" lIns="0" tIns="0" rIns="0" bIns="0" rtlCol="0" anchor="ctr"/>
          <a:lstStyle/>
          <a:p>
            <a:pPr indent="0" marL="0">
              <a:buNone/>
            </a:pPr>
            <a:r>
              <a:rPr lang="en-US" sz="1600" b="1" dirty="0">
                <a:solidFill>
                  <a:schemeClr val="tx2"/>
                </a:solidFill>
              </a:rPr>
              <a:t>Opinions at scale</a:t>
            </a:r>
            <a:endParaRPr lang="en-US" sz="1600" dirty="0"/>
          </a:p>
        </p:txBody>
      </p:sp>
      <p:sp>
        <p:nvSpPr>
          <p:cNvPr id="7" name="Text 4"/>
          <p:cNvSpPr txBox="1"/>
          <p:nvPr/>
        </p:nvSpPr>
        <p:spPr>
          <a:xfrm>
            <a:off x="1371600" y="1572768"/>
            <a:ext cx="3977640" cy="548640"/>
          </a:xfrm>
          <a:prstGeom prst="rect">
            <a:avLst/>
          </a:prstGeom>
          <a:noFill/>
          <a:ln/>
        </p:spPr>
        <p:txBody>
          <a:bodyPr wrap="square" lIns="0" tIns="0" rIns="0" bIns="0" rtlCol="0" anchor="t"/>
          <a:lstStyle/>
          <a:p>
            <a:pPr indent="0" marL="0">
              <a:buNone/>
            </a:pPr>
            <a:r>
              <a:rPr lang="en-US" sz="1400" dirty="0">
                <a:solidFill>
                  <a:schemeClr val="tx1"/>
                </a:solidFill>
              </a:rPr>
              <a:t>Reviews, ratings and comments pile up daily. Automatic polarity labels replace manual reading.</a:t>
            </a:r>
            <a:endParaRPr lang="en-US" sz="1400" dirty="0"/>
          </a:p>
        </p:txBody>
      </p:sp>
      <p:sp>
        <p:nvSpPr>
          <p:cNvPr id="8" name="Intro card 2"/>
          <p:cNvSpPr/>
          <p:nvPr/>
        </p:nvSpPr>
        <p:spPr>
          <a:xfrm>
            <a:off x="457200" y="2331720"/>
            <a:ext cx="5029200" cy="1005840"/>
          </a:xfrm>
          <a:prstGeom prst="rect">
            <a:avLst/>
          </a:prstGeom>
          <a:solidFill>
            <a:schemeClr val="bg2"/>
          </a:solidFill>
          <a:ln w="12700">
            <a:solidFill>
              <a:schemeClr val="bg2"/>
            </a:solidFill>
            <a:prstDash val="solid"/>
          </a:ln>
        </p:spPr>
      </p:sp>
      <p:sp>
        <p:nvSpPr>
          <p:cNvPr id="9" name="Icon circle 2"/>
          <p:cNvSpPr/>
          <p:nvPr/>
        </p:nvSpPr>
        <p:spPr>
          <a:xfrm>
            <a:off x="640080" y="2578608"/>
            <a:ext cx="512064" cy="512064"/>
          </a:xfrm>
          <a:prstGeom prst="ellipse">
            <a:avLst/>
          </a:prstGeom>
          <a:solidFill>
            <a:schemeClr val="tx2"/>
          </a:solidFill>
          <a:ln w="12700">
            <a:solidFill>
              <a:schemeClr val="tx2"/>
            </a:solidFill>
            <a:prstDash val="solid"/>
          </a:ln>
        </p:spPr>
      </p:sp>
      <p:pic>
        <p:nvPicPr>
          <p:cNvPr id="10" name="Image 1" descr="Long reviews are hard">    </p:cNvPr>
          <p:cNvPicPr>
            <a:picLocks noChangeAspect="1"/>
          </p:cNvPicPr>
          <p:nvPr/>
        </p:nvPicPr>
        <p:blipFill>
          <a:blip r:embed="rId2"/>
          <a:stretch>
            <a:fillRect/>
          </a:stretch>
        </p:blipFill>
        <p:spPr>
          <a:xfrm>
            <a:off x="768096" y="2706624"/>
            <a:ext cx="256032" cy="256032"/>
          </a:xfrm>
          <a:prstGeom prst="rect">
            <a:avLst/>
          </a:prstGeom>
        </p:spPr>
      </p:pic>
      <p:sp>
        <p:nvSpPr>
          <p:cNvPr id="11" name="Text 7"/>
          <p:cNvSpPr txBox="1"/>
          <p:nvPr/>
        </p:nvSpPr>
        <p:spPr>
          <a:xfrm>
            <a:off x="1371600" y="2423160"/>
            <a:ext cx="3977640" cy="292608"/>
          </a:xfrm>
          <a:prstGeom prst="rect">
            <a:avLst/>
          </a:prstGeom>
          <a:noFill/>
          <a:ln/>
        </p:spPr>
        <p:txBody>
          <a:bodyPr wrap="square" lIns="0" tIns="0" rIns="0" bIns="0" rtlCol="0" anchor="ctr"/>
          <a:lstStyle/>
          <a:p>
            <a:pPr indent="0" marL="0">
              <a:buNone/>
            </a:pPr>
            <a:r>
              <a:rPr lang="en-US" sz="1600" b="1" dirty="0">
                <a:solidFill>
                  <a:schemeClr val="tx2"/>
                </a:solidFill>
              </a:rPr>
              <a:t>Long reviews are hard</a:t>
            </a:r>
            <a:endParaRPr lang="en-US" sz="1600" dirty="0"/>
          </a:p>
        </p:txBody>
      </p:sp>
      <p:sp>
        <p:nvSpPr>
          <p:cNvPr id="12" name="Text 8"/>
          <p:cNvSpPr txBox="1"/>
          <p:nvPr/>
        </p:nvSpPr>
        <p:spPr>
          <a:xfrm>
            <a:off x="1371600" y="2715768"/>
            <a:ext cx="3977640" cy="548640"/>
          </a:xfrm>
          <a:prstGeom prst="rect">
            <a:avLst/>
          </a:prstGeom>
          <a:noFill/>
          <a:ln/>
        </p:spPr>
        <p:txBody>
          <a:bodyPr wrap="square" lIns="0" tIns="0" rIns="0" bIns="0" rtlCol="0" anchor="t"/>
          <a:lstStyle/>
          <a:p>
            <a:pPr indent="0" marL="0">
              <a:buNone/>
            </a:pPr>
            <a:r>
              <a:rPr lang="en-US" sz="1400" dirty="0">
                <a:solidFill>
                  <a:schemeClr val="tx1"/>
                </a:solidFill>
              </a:rPr>
              <a:t>Negation, mixed praise and criticism, and plot summaries hide the real opinion.</a:t>
            </a:r>
            <a:endParaRPr lang="en-US" sz="1400" dirty="0"/>
          </a:p>
        </p:txBody>
      </p:sp>
      <p:sp>
        <p:nvSpPr>
          <p:cNvPr id="13" name="Intro card 3"/>
          <p:cNvSpPr/>
          <p:nvPr/>
        </p:nvSpPr>
        <p:spPr>
          <a:xfrm>
            <a:off x="457200" y="3474720"/>
            <a:ext cx="5029200" cy="1005840"/>
          </a:xfrm>
          <a:prstGeom prst="rect">
            <a:avLst/>
          </a:prstGeom>
          <a:solidFill>
            <a:schemeClr val="bg2"/>
          </a:solidFill>
          <a:ln w="12700">
            <a:solidFill>
              <a:schemeClr val="bg2"/>
            </a:solidFill>
            <a:prstDash val="solid"/>
          </a:ln>
        </p:spPr>
      </p:sp>
      <p:sp>
        <p:nvSpPr>
          <p:cNvPr id="14" name="Icon circle 3"/>
          <p:cNvSpPr/>
          <p:nvPr/>
        </p:nvSpPr>
        <p:spPr>
          <a:xfrm>
            <a:off x="640080" y="3721608"/>
            <a:ext cx="512064" cy="512064"/>
          </a:xfrm>
          <a:prstGeom prst="ellipse">
            <a:avLst/>
          </a:prstGeom>
          <a:solidFill>
            <a:schemeClr val="tx2"/>
          </a:solidFill>
          <a:ln w="12700">
            <a:solidFill>
              <a:schemeClr val="tx2"/>
            </a:solidFill>
            <a:prstDash val="solid"/>
          </a:ln>
        </p:spPr>
      </p:sp>
      <p:pic>
        <p:nvPicPr>
          <p:cNvPr id="15" name="Image 2" descr="A gap in hybrid models">    </p:cNvPr>
          <p:cNvPicPr>
            <a:picLocks noChangeAspect="1"/>
          </p:cNvPicPr>
          <p:nvPr/>
        </p:nvPicPr>
        <p:blipFill>
          <a:blip r:embed="rId3"/>
          <a:stretch>
            <a:fillRect/>
          </a:stretch>
        </p:blipFill>
        <p:spPr>
          <a:xfrm>
            <a:off x="768096" y="3849624"/>
            <a:ext cx="256032" cy="256032"/>
          </a:xfrm>
          <a:prstGeom prst="rect">
            <a:avLst/>
          </a:prstGeom>
        </p:spPr>
      </p:pic>
      <p:sp>
        <p:nvSpPr>
          <p:cNvPr id="16" name="Text 11"/>
          <p:cNvSpPr txBox="1"/>
          <p:nvPr/>
        </p:nvSpPr>
        <p:spPr>
          <a:xfrm>
            <a:off x="1371600" y="3566160"/>
            <a:ext cx="3977640" cy="292608"/>
          </a:xfrm>
          <a:prstGeom prst="rect">
            <a:avLst/>
          </a:prstGeom>
          <a:noFill/>
          <a:ln/>
        </p:spPr>
        <p:txBody>
          <a:bodyPr wrap="square" lIns="0" tIns="0" rIns="0" bIns="0" rtlCol="0" anchor="ctr"/>
          <a:lstStyle/>
          <a:p>
            <a:pPr indent="0" marL="0">
              <a:buNone/>
            </a:pPr>
            <a:r>
              <a:rPr lang="en-US" sz="1600" b="1" dirty="0">
                <a:solidFill>
                  <a:schemeClr val="tx2"/>
                </a:solidFill>
              </a:rPr>
              <a:t>A gap in hybrid models</a:t>
            </a:r>
            <a:endParaRPr lang="en-US" sz="1600" dirty="0"/>
          </a:p>
        </p:txBody>
      </p:sp>
      <p:sp>
        <p:nvSpPr>
          <p:cNvPr id="17" name="Text 12"/>
          <p:cNvSpPr txBox="1"/>
          <p:nvPr/>
        </p:nvSpPr>
        <p:spPr>
          <a:xfrm>
            <a:off x="1371600" y="3858768"/>
            <a:ext cx="3977640" cy="548640"/>
          </a:xfrm>
          <a:prstGeom prst="rect">
            <a:avLst/>
          </a:prstGeom>
          <a:noFill/>
          <a:ln/>
        </p:spPr>
        <p:txBody>
          <a:bodyPr wrap="square" lIns="0" tIns="0" rIns="0" bIns="0" rtlCol="0" anchor="t"/>
          <a:lstStyle/>
          <a:p>
            <a:pPr indent="0" marL="0">
              <a:buNone/>
            </a:pPr>
            <a:r>
              <a:rPr lang="en-US" sz="1400" dirty="0">
                <a:solidFill>
                  <a:schemeClr val="tx1"/>
                </a:solidFill>
              </a:rPr>
              <a:t>RoBERTa-BiLSTM adds a sequential layer after the encoder. Is it needed?</a:t>
            </a:r>
            <a:endParaRPr lang="en-US" sz="1400" dirty="0"/>
          </a:p>
        </p:txBody>
      </p:sp>
      <p:sp>
        <p:nvSpPr>
          <p:cNvPr id="18" name="Stat panel"/>
          <p:cNvSpPr/>
          <p:nvPr/>
        </p:nvSpPr>
        <p:spPr>
          <a:xfrm>
            <a:off x="5760720" y="1188720"/>
            <a:ext cx="2926080" cy="3383280"/>
          </a:xfrm>
          <a:prstGeom prst="rect">
            <a:avLst/>
          </a:prstGeom>
          <a:solidFill>
            <a:schemeClr val="tx2"/>
          </a:solidFill>
          <a:ln w="12700">
            <a:solidFill>
              <a:schemeClr val="tx2"/>
            </a:solidFill>
            <a:prstDash val="solid"/>
          </a:ln>
        </p:spPr>
      </p:sp>
      <p:sp>
        <p:nvSpPr>
          <p:cNvPr id="19" name="Text 14"/>
          <p:cNvSpPr txBox="1"/>
          <p:nvPr/>
        </p:nvSpPr>
        <p:spPr>
          <a:xfrm>
            <a:off x="5852160" y="1508760"/>
            <a:ext cx="274320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92.36%</a:t>
            </a:r>
            <a:endParaRPr lang="en-US" sz="5400" dirty="0"/>
          </a:p>
        </p:txBody>
      </p:sp>
      <p:sp>
        <p:nvSpPr>
          <p:cNvPr id="20" name="Text 15"/>
          <p:cNvSpPr txBox="1"/>
          <p:nvPr/>
        </p:nvSpPr>
        <p:spPr>
          <a:xfrm>
            <a:off x="5989320" y="2468880"/>
            <a:ext cx="2468880" cy="731520"/>
          </a:xfrm>
          <a:prstGeom prst="rect">
            <a:avLst/>
          </a:prstGeom>
          <a:noFill/>
          <a:ln/>
        </p:spPr>
        <p:txBody>
          <a:bodyPr wrap="square" lIns="0" tIns="0" rIns="0" bIns="0" rtlCol="0" anchor="ctr"/>
          <a:lstStyle/>
          <a:p>
            <a:pPr algn="ctr" indent="0" marL="0">
              <a:buNone/>
            </a:pPr>
            <a:r>
              <a:rPr lang="en-US" sz="1400" dirty="0">
                <a:solidFill>
                  <a:schemeClr val="bg1"/>
                </a:solidFill>
              </a:rPr>
              <a:t>published accuracy of RoBERTa-BiLSTM on IMDb [3]</a:t>
            </a:r>
            <a:endParaRPr lang="en-US" sz="1400" dirty="0"/>
          </a:p>
        </p:txBody>
      </p:sp>
      <p:sp>
        <p:nvSpPr>
          <p:cNvPr id="21" name="Text 16"/>
          <p:cNvSpPr txBox="1"/>
          <p:nvPr/>
        </p:nvSpPr>
        <p:spPr>
          <a:xfrm>
            <a:off x="5989320" y="3429000"/>
            <a:ext cx="2468880" cy="731520"/>
          </a:xfrm>
          <a:prstGeom prst="rect">
            <a:avLst/>
          </a:prstGeom>
          <a:noFill/>
          <a:ln/>
        </p:spPr>
        <p:txBody>
          <a:bodyPr wrap="square" lIns="0" tIns="0" rIns="0" bIns="0" rtlCol="0" anchor="ctr"/>
          <a:lstStyle/>
          <a:p>
            <a:pPr algn="ctr" indent="0" marL="0">
              <a:buNone/>
            </a:pPr>
            <a:r>
              <a:rPr lang="en-US" sz="1400" i="1" dirty="0">
                <a:solidFill>
                  <a:schemeClr val="bg2"/>
                </a:solidFill>
              </a:rPr>
              <a:t>The number to beat, without a recurrent layer.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How the Field Evolved</a:t>
            </a:r>
            <a:endParaRPr lang="en-US" sz="3200" dirty="0"/>
          </a:p>
        </p:txBody>
      </p:sp>
      <p:sp>
        <p:nvSpPr>
          <p:cNvPr id="3" name="Era header 1"/>
          <p:cNvSpPr/>
          <p:nvPr/>
        </p:nvSpPr>
        <p:spPr>
          <a:xfrm>
            <a:off x="457200" y="1280160"/>
            <a:ext cx="1554480" cy="640080"/>
          </a:xfrm>
          <a:prstGeom prst="rect">
            <a:avLst/>
          </a:prstGeom>
          <a:solidFill>
            <a:srgbClr val="9AA5B1"/>
          </a:solidFill>
          <a:ln w="12700">
            <a:solidFill>
              <a:srgbClr val="9AA5B1"/>
            </a:solidFill>
            <a:prstDash val="solid"/>
          </a:ln>
        </p:spPr>
      </p:sp>
      <p:sp>
        <p:nvSpPr>
          <p:cNvPr id="4" name="Text 2"/>
          <p:cNvSpPr txBox="1"/>
          <p:nvPr/>
        </p:nvSpPr>
        <p:spPr>
          <a:xfrm>
            <a:off x="457200" y="1280160"/>
            <a:ext cx="1554480" cy="640080"/>
          </a:xfrm>
          <a:prstGeom prst="rect">
            <a:avLst/>
          </a:prstGeom>
          <a:noFill/>
          <a:ln/>
        </p:spPr>
        <p:txBody>
          <a:bodyPr wrap="square" lIns="635" tIns="635" rIns="635" bIns="635" rtlCol="0" anchor="ctr"/>
          <a:lstStyle/>
          <a:p>
            <a:pPr algn="ctr" indent="0" marL="0">
              <a:buNone/>
            </a:pPr>
            <a:r>
              <a:rPr lang="en-US" sz="1400" b="1" dirty="0">
                <a:solidFill>
                  <a:schemeClr val="bg1"/>
                </a:solidFill>
              </a:rPr>
              <a:t>Classical ML</a:t>
            </a:r>
            <a:endParaRPr lang="en-US" sz="1400" dirty="0"/>
          </a:p>
        </p:txBody>
      </p:sp>
      <p:sp>
        <p:nvSpPr>
          <p:cNvPr id="5" name="Era body 1"/>
          <p:cNvSpPr/>
          <p:nvPr/>
        </p:nvSpPr>
        <p:spPr>
          <a:xfrm>
            <a:off x="457200" y="1920240"/>
            <a:ext cx="1554480" cy="1325880"/>
          </a:xfrm>
          <a:prstGeom prst="rect">
            <a:avLst/>
          </a:prstGeom>
          <a:solidFill>
            <a:schemeClr val="bg2"/>
          </a:solidFill>
          <a:ln w="12700">
            <a:solidFill>
              <a:schemeClr val="bg2"/>
            </a:solidFill>
            <a:prstDash val="solid"/>
          </a:ln>
        </p:spPr>
      </p:sp>
      <p:sp>
        <p:nvSpPr>
          <p:cNvPr id="6" name="Text 4"/>
          <p:cNvSpPr txBox="1"/>
          <p:nvPr/>
        </p:nvSpPr>
        <p:spPr>
          <a:xfrm>
            <a:off x="548640" y="2011680"/>
            <a:ext cx="1371600" cy="1371600"/>
          </a:xfrm>
          <a:prstGeom prst="rect">
            <a:avLst/>
          </a:prstGeom>
          <a:noFill/>
          <a:ln/>
        </p:spPr>
        <p:txBody>
          <a:bodyPr wrap="square" lIns="0" tIns="0" rIns="0" bIns="0" rtlCol="0" anchor="t"/>
          <a:lstStyle/>
          <a:p>
            <a:pPr indent="0" marL="0">
              <a:buNone/>
            </a:pPr>
            <a:r>
              <a:rPr lang="en-US" sz="1400" dirty="0">
                <a:solidFill>
                  <a:schemeClr val="tx1"/>
                </a:solidFill>
              </a:rPr>
              <a:t>Naive Bayes, SVM, Logistic Regression on TF-IDF</a:t>
            </a:r>
            <a:endParaRPr lang="en-US" sz="1400" dirty="0"/>
          </a:p>
        </p:txBody>
      </p:sp>
      <p:sp>
        <p:nvSpPr>
          <p:cNvPr id="7" name="Text 5"/>
          <p:cNvSpPr txBox="1"/>
          <p:nvPr/>
        </p:nvSpPr>
        <p:spPr>
          <a:xfrm>
            <a:off x="457200" y="3383280"/>
            <a:ext cx="1554480" cy="548640"/>
          </a:xfrm>
          <a:prstGeom prst="rect">
            <a:avLst/>
          </a:prstGeom>
          <a:noFill/>
          <a:ln/>
        </p:spPr>
        <p:txBody>
          <a:bodyPr wrap="square" lIns="0" tIns="0" rIns="0" bIns="0" rtlCol="0" anchor="ctr"/>
          <a:lstStyle/>
          <a:p>
            <a:pPr algn="ctr" indent="0" marL="0">
              <a:buNone/>
            </a:pPr>
            <a:r>
              <a:rPr lang="en-US" sz="2800" b="1" dirty="0">
                <a:solidFill>
                  <a:schemeClr val="tx2"/>
                </a:solidFill>
                <a:latin typeface="Cambria" pitchFamily="34" charset="0"/>
                <a:ea typeface="Cambria" pitchFamily="34" charset="-122"/>
                <a:cs typeface="Cambria" pitchFamily="34" charset="-120"/>
              </a:rPr>
              <a:t>87.12%</a:t>
            </a:r>
            <a:endParaRPr lang="en-US" sz="2800" dirty="0"/>
          </a:p>
        </p:txBody>
      </p:sp>
      <p:sp>
        <p:nvSpPr>
          <p:cNvPr id="8" name="Text 6"/>
          <p:cNvSpPr txBox="1"/>
          <p:nvPr/>
        </p:nvSpPr>
        <p:spPr>
          <a:xfrm>
            <a:off x="457200" y="3931920"/>
            <a:ext cx="1554480" cy="228600"/>
          </a:xfrm>
          <a:prstGeom prst="rect">
            <a:avLst/>
          </a:prstGeom>
          <a:noFill/>
          <a:ln/>
        </p:spPr>
        <p:txBody>
          <a:bodyPr wrap="square" lIns="0" tIns="0" rIns="0" bIns="0" rtlCol="0" anchor="ctr"/>
          <a:lstStyle/>
          <a:p>
            <a:pPr algn="ctr" indent="0" marL="0">
              <a:buNone/>
            </a:pPr>
            <a:r>
              <a:rPr lang="en-US" sz="1100" dirty="0">
                <a:solidFill>
                  <a:schemeClr val="accent3"/>
                </a:solidFill>
              </a:rPr>
              <a:t>IMDb accuracy</a:t>
            </a:r>
            <a:endParaRPr lang="en-US" sz="1100" dirty="0"/>
          </a:p>
        </p:txBody>
      </p:sp>
      <p:sp>
        <p:nvSpPr>
          <p:cNvPr id="9" name="Era header 2"/>
          <p:cNvSpPr/>
          <p:nvPr/>
        </p:nvSpPr>
        <p:spPr>
          <a:xfrm>
            <a:off x="2125980" y="1280160"/>
            <a:ext cx="1554480" cy="640080"/>
          </a:xfrm>
          <a:prstGeom prst="rect">
            <a:avLst/>
          </a:prstGeom>
          <a:solidFill>
            <a:srgbClr val="9AA5B1"/>
          </a:solidFill>
          <a:ln w="12700">
            <a:solidFill>
              <a:srgbClr val="9AA5B1"/>
            </a:solidFill>
            <a:prstDash val="solid"/>
          </a:ln>
        </p:spPr>
      </p:sp>
      <p:sp>
        <p:nvSpPr>
          <p:cNvPr id="10" name="Text 8"/>
          <p:cNvSpPr txBox="1"/>
          <p:nvPr/>
        </p:nvSpPr>
        <p:spPr>
          <a:xfrm>
            <a:off x="2125980" y="1280160"/>
            <a:ext cx="1554480" cy="640080"/>
          </a:xfrm>
          <a:prstGeom prst="rect">
            <a:avLst/>
          </a:prstGeom>
          <a:noFill/>
          <a:ln/>
        </p:spPr>
        <p:txBody>
          <a:bodyPr wrap="square" lIns="635" tIns="635" rIns="635" bIns="635" rtlCol="0" anchor="ctr"/>
          <a:lstStyle/>
          <a:p>
            <a:pPr algn="ctr" indent="0" marL="0">
              <a:buNone/>
            </a:pPr>
            <a:r>
              <a:rPr lang="en-US" sz="1400" b="1" dirty="0">
                <a:solidFill>
                  <a:schemeClr val="bg1"/>
                </a:solidFill>
              </a:rPr>
              <a:t>Recurrent nets</a:t>
            </a:r>
            <a:endParaRPr lang="en-US" sz="1400" dirty="0"/>
          </a:p>
        </p:txBody>
      </p:sp>
      <p:sp>
        <p:nvSpPr>
          <p:cNvPr id="11" name="Era body 2"/>
          <p:cNvSpPr/>
          <p:nvPr/>
        </p:nvSpPr>
        <p:spPr>
          <a:xfrm>
            <a:off x="2125980" y="1920240"/>
            <a:ext cx="1554480" cy="1325880"/>
          </a:xfrm>
          <a:prstGeom prst="rect">
            <a:avLst/>
          </a:prstGeom>
          <a:solidFill>
            <a:schemeClr val="bg2"/>
          </a:solidFill>
          <a:ln w="12700">
            <a:solidFill>
              <a:schemeClr val="bg2"/>
            </a:solidFill>
            <a:prstDash val="solid"/>
          </a:ln>
        </p:spPr>
      </p:sp>
      <p:sp>
        <p:nvSpPr>
          <p:cNvPr id="12" name="Text 10"/>
          <p:cNvSpPr txBox="1"/>
          <p:nvPr/>
        </p:nvSpPr>
        <p:spPr>
          <a:xfrm>
            <a:off x="2217420" y="2011680"/>
            <a:ext cx="1371600" cy="1371600"/>
          </a:xfrm>
          <a:prstGeom prst="rect">
            <a:avLst/>
          </a:prstGeom>
          <a:noFill/>
          <a:ln/>
        </p:spPr>
        <p:txBody>
          <a:bodyPr wrap="square" lIns="0" tIns="0" rIns="0" bIns="0" rtlCol="0" anchor="t"/>
          <a:lstStyle/>
          <a:p>
            <a:pPr indent="0" marL="0">
              <a:buNone/>
            </a:pPr>
            <a:r>
              <a:rPr lang="en-US" sz="1400" dirty="0">
                <a:solidFill>
                  <a:schemeClr val="tx1"/>
                </a:solidFill>
              </a:rPr>
              <a:t>LSTM and BiLSTM read tokens one by one</a:t>
            </a:r>
            <a:endParaRPr lang="en-US" sz="1400" dirty="0"/>
          </a:p>
        </p:txBody>
      </p:sp>
      <p:sp>
        <p:nvSpPr>
          <p:cNvPr id="13" name="Era header 3"/>
          <p:cNvSpPr/>
          <p:nvPr/>
        </p:nvSpPr>
        <p:spPr>
          <a:xfrm>
            <a:off x="3794760" y="1280160"/>
            <a:ext cx="1554480" cy="640080"/>
          </a:xfrm>
          <a:prstGeom prst="rect">
            <a:avLst/>
          </a:prstGeom>
          <a:solidFill>
            <a:srgbClr val="6B7A8F"/>
          </a:solidFill>
          <a:ln w="12700">
            <a:solidFill>
              <a:srgbClr val="6B7A8F"/>
            </a:solidFill>
            <a:prstDash val="solid"/>
          </a:ln>
        </p:spPr>
      </p:sp>
      <p:sp>
        <p:nvSpPr>
          <p:cNvPr id="14" name="Text 12"/>
          <p:cNvSpPr txBox="1"/>
          <p:nvPr/>
        </p:nvSpPr>
        <p:spPr>
          <a:xfrm>
            <a:off x="3794760" y="1280160"/>
            <a:ext cx="1554480" cy="640080"/>
          </a:xfrm>
          <a:prstGeom prst="rect">
            <a:avLst/>
          </a:prstGeom>
          <a:noFill/>
          <a:ln/>
        </p:spPr>
        <p:txBody>
          <a:bodyPr wrap="square" lIns="635" tIns="635" rIns="635" bIns="635" rtlCol="0" anchor="ctr"/>
          <a:lstStyle/>
          <a:p>
            <a:pPr algn="ctr" indent="0" marL="0">
              <a:buNone/>
            </a:pPr>
            <a:r>
              <a:rPr lang="en-US" sz="1400" b="1" dirty="0">
                <a:solidFill>
                  <a:schemeClr val="bg1"/>
                </a:solidFill>
              </a:rPr>
              <a:t>Transformers</a:t>
            </a:r>
            <a:endParaRPr lang="en-US" sz="1400" dirty="0"/>
          </a:p>
        </p:txBody>
      </p:sp>
      <p:sp>
        <p:nvSpPr>
          <p:cNvPr id="15" name="Era body 3"/>
          <p:cNvSpPr/>
          <p:nvPr/>
        </p:nvSpPr>
        <p:spPr>
          <a:xfrm>
            <a:off x="3794760" y="1920240"/>
            <a:ext cx="1554480" cy="1325880"/>
          </a:xfrm>
          <a:prstGeom prst="rect">
            <a:avLst/>
          </a:prstGeom>
          <a:solidFill>
            <a:schemeClr val="bg2"/>
          </a:solidFill>
          <a:ln w="12700">
            <a:solidFill>
              <a:schemeClr val="bg2"/>
            </a:solidFill>
            <a:prstDash val="solid"/>
          </a:ln>
        </p:spPr>
      </p:sp>
      <p:sp>
        <p:nvSpPr>
          <p:cNvPr id="16" name="Text 14"/>
          <p:cNvSpPr txBox="1"/>
          <p:nvPr/>
        </p:nvSpPr>
        <p:spPr>
          <a:xfrm>
            <a:off x="3886200" y="2011680"/>
            <a:ext cx="1371600" cy="1371600"/>
          </a:xfrm>
          <a:prstGeom prst="rect">
            <a:avLst/>
          </a:prstGeom>
          <a:noFill/>
          <a:ln/>
        </p:spPr>
        <p:txBody>
          <a:bodyPr wrap="square" lIns="0" tIns="0" rIns="0" bIns="0" rtlCol="0" anchor="t"/>
          <a:lstStyle/>
          <a:p>
            <a:pPr indent="0" marL="0">
              <a:buNone/>
            </a:pPr>
            <a:r>
              <a:rPr lang="en-US" sz="1400" dirty="0">
                <a:solidFill>
                  <a:schemeClr val="tx1"/>
                </a:solidFill>
              </a:rPr>
              <a:t>BERT and RoBERTa, pretrained then fine-tuned</a:t>
            </a:r>
            <a:endParaRPr lang="en-US" sz="1400" dirty="0"/>
          </a:p>
        </p:txBody>
      </p:sp>
      <p:sp>
        <p:nvSpPr>
          <p:cNvPr id="17" name="Text 15"/>
          <p:cNvSpPr txBox="1"/>
          <p:nvPr/>
        </p:nvSpPr>
        <p:spPr>
          <a:xfrm>
            <a:off x="3794760" y="3383280"/>
            <a:ext cx="1554480" cy="548640"/>
          </a:xfrm>
          <a:prstGeom prst="rect">
            <a:avLst/>
          </a:prstGeom>
          <a:noFill/>
          <a:ln/>
        </p:spPr>
        <p:txBody>
          <a:bodyPr wrap="square" lIns="0" tIns="0" rIns="0" bIns="0" rtlCol="0" anchor="ctr"/>
          <a:lstStyle/>
          <a:p>
            <a:pPr algn="ctr" indent="0" marL="0">
              <a:buNone/>
            </a:pPr>
            <a:r>
              <a:rPr lang="en-US" sz="2800" b="1" dirty="0">
                <a:solidFill>
                  <a:schemeClr val="tx2"/>
                </a:solidFill>
                <a:latin typeface="Cambria" pitchFamily="34" charset="0"/>
                <a:ea typeface="Cambria" pitchFamily="34" charset="-122"/>
                <a:cs typeface="Cambria" pitchFamily="34" charset="-120"/>
              </a:rPr>
              <a:t>91.32%</a:t>
            </a:r>
            <a:endParaRPr lang="en-US" sz="2800" dirty="0"/>
          </a:p>
        </p:txBody>
      </p:sp>
      <p:sp>
        <p:nvSpPr>
          <p:cNvPr id="18" name="Text 16"/>
          <p:cNvSpPr txBox="1"/>
          <p:nvPr/>
        </p:nvSpPr>
        <p:spPr>
          <a:xfrm>
            <a:off x="3794760" y="3931920"/>
            <a:ext cx="1554480" cy="228600"/>
          </a:xfrm>
          <a:prstGeom prst="rect">
            <a:avLst/>
          </a:prstGeom>
          <a:noFill/>
          <a:ln/>
        </p:spPr>
        <p:txBody>
          <a:bodyPr wrap="square" lIns="0" tIns="0" rIns="0" bIns="0" rtlCol="0" anchor="ctr"/>
          <a:lstStyle/>
          <a:p>
            <a:pPr algn="ctr" indent="0" marL="0">
              <a:buNone/>
            </a:pPr>
            <a:r>
              <a:rPr lang="en-US" sz="1100" dirty="0">
                <a:solidFill>
                  <a:schemeClr val="accent3"/>
                </a:solidFill>
              </a:rPr>
              <a:t>IMDb accuracy</a:t>
            </a:r>
            <a:endParaRPr lang="en-US" sz="1100" dirty="0"/>
          </a:p>
        </p:txBody>
      </p:sp>
      <p:sp>
        <p:nvSpPr>
          <p:cNvPr id="19" name="Era header 4"/>
          <p:cNvSpPr/>
          <p:nvPr/>
        </p:nvSpPr>
        <p:spPr>
          <a:xfrm>
            <a:off x="5463540" y="1280160"/>
            <a:ext cx="1554480" cy="640080"/>
          </a:xfrm>
          <a:prstGeom prst="rect">
            <a:avLst/>
          </a:prstGeom>
          <a:solidFill>
            <a:srgbClr val="2F5D8C"/>
          </a:solidFill>
          <a:ln w="12700">
            <a:solidFill>
              <a:srgbClr val="2F5D8C"/>
            </a:solidFill>
            <a:prstDash val="solid"/>
          </a:ln>
        </p:spPr>
      </p:sp>
      <p:sp>
        <p:nvSpPr>
          <p:cNvPr id="20" name="Text 18"/>
          <p:cNvSpPr txBox="1"/>
          <p:nvPr/>
        </p:nvSpPr>
        <p:spPr>
          <a:xfrm>
            <a:off x="5463540" y="1280160"/>
            <a:ext cx="1554480" cy="640080"/>
          </a:xfrm>
          <a:prstGeom prst="rect">
            <a:avLst/>
          </a:prstGeom>
          <a:noFill/>
          <a:ln/>
        </p:spPr>
        <p:txBody>
          <a:bodyPr wrap="square" lIns="635" tIns="635" rIns="635" bIns="635" rtlCol="0" anchor="ctr"/>
          <a:lstStyle/>
          <a:p>
            <a:pPr algn="ctr" indent="0" marL="0">
              <a:buNone/>
            </a:pPr>
            <a:r>
              <a:rPr lang="en-US" sz="1400" b="1" dirty="0">
                <a:solidFill>
                  <a:schemeClr val="bg1"/>
                </a:solidFill>
              </a:rPr>
              <a:t>RoBERTa-BiLSTM</a:t>
            </a:r>
            <a:endParaRPr lang="en-US" sz="1400" dirty="0"/>
          </a:p>
        </p:txBody>
      </p:sp>
      <p:sp>
        <p:nvSpPr>
          <p:cNvPr id="21" name="Era body 4"/>
          <p:cNvSpPr/>
          <p:nvPr/>
        </p:nvSpPr>
        <p:spPr>
          <a:xfrm>
            <a:off x="5463540" y="1920240"/>
            <a:ext cx="1554480" cy="1325880"/>
          </a:xfrm>
          <a:prstGeom prst="rect">
            <a:avLst/>
          </a:prstGeom>
          <a:solidFill>
            <a:schemeClr val="bg2"/>
          </a:solidFill>
          <a:ln w="12700">
            <a:solidFill>
              <a:schemeClr val="bg2"/>
            </a:solidFill>
            <a:prstDash val="solid"/>
          </a:ln>
        </p:spPr>
      </p:sp>
      <p:sp>
        <p:nvSpPr>
          <p:cNvPr id="22" name="Text 20"/>
          <p:cNvSpPr txBox="1"/>
          <p:nvPr/>
        </p:nvSpPr>
        <p:spPr>
          <a:xfrm>
            <a:off x="5554980" y="2011680"/>
            <a:ext cx="1371600" cy="1371600"/>
          </a:xfrm>
          <a:prstGeom prst="rect">
            <a:avLst/>
          </a:prstGeom>
          <a:noFill/>
          <a:ln/>
        </p:spPr>
        <p:txBody>
          <a:bodyPr wrap="square" lIns="0" tIns="0" rIns="0" bIns="0" rtlCol="0" anchor="t"/>
          <a:lstStyle/>
          <a:p>
            <a:pPr indent="0" marL="0">
              <a:buNone/>
            </a:pPr>
            <a:r>
              <a:rPr lang="en-US" sz="1400" dirty="0">
                <a:solidFill>
                  <a:schemeClr val="tx1"/>
                </a:solidFill>
              </a:rPr>
              <a:t>Encoder plus BiLSTM and dense layers [3]</a:t>
            </a:r>
            <a:endParaRPr lang="en-US" sz="1400" dirty="0"/>
          </a:p>
        </p:txBody>
      </p:sp>
      <p:sp>
        <p:nvSpPr>
          <p:cNvPr id="23" name="Text 21"/>
          <p:cNvSpPr txBox="1"/>
          <p:nvPr/>
        </p:nvSpPr>
        <p:spPr>
          <a:xfrm>
            <a:off x="5463540" y="3383280"/>
            <a:ext cx="1554480" cy="548640"/>
          </a:xfrm>
          <a:prstGeom prst="rect">
            <a:avLst/>
          </a:prstGeom>
          <a:noFill/>
          <a:ln/>
        </p:spPr>
        <p:txBody>
          <a:bodyPr wrap="square" lIns="0" tIns="0" rIns="0" bIns="0" rtlCol="0" anchor="ctr"/>
          <a:lstStyle/>
          <a:p>
            <a:pPr algn="ctr" indent="0" marL="0">
              <a:buNone/>
            </a:pPr>
            <a:r>
              <a:rPr lang="en-US" sz="2800" b="1" dirty="0">
                <a:solidFill>
                  <a:schemeClr val="tx2"/>
                </a:solidFill>
                <a:latin typeface="Cambria" pitchFamily="34" charset="0"/>
                <a:ea typeface="Cambria" pitchFamily="34" charset="-122"/>
                <a:cs typeface="Cambria" pitchFamily="34" charset="-120"/>
              </a:rPr>
              <a:t>92.36%</a:t>
            </a:r>
            <a:endParaRPr lang="en-US" sz="2800" dirty="0"/>
          </a:p>
        </p:txBody>
      </p:sp>
      <p:sp>
        <p:nvSpPr>
          <p:cNvPr id="24" name="Text 22"/>
          <p:cNvSpPr txBox="1"/>
          <p:nvPr/>
        </p:nvSpPr>
        <p:spPr>
          <a:xfrm>
            <a:off x="5463540" y="3931920"/>
            <a:ext cx="1554480" cy="228600"/>
          </a:xfrm>
          <a:prstGeom prst="rect">
            <a:avLst/>
          </a:prstGeom>
          <a:noFill/>
          <a:ln/>
        </p:spPr>
        <p:txBody>
          <a:bodyPr wrap="square" lIns="0" tIns="0" rIns="0" bIns="0" rtlCol="0" anchor="ctr"/>
          <a:lstStyle/>
          <a:p>
            <a:pPr algn="ctr" indent="0" marL="0">
              <a:buNone/>
            </a:pPr>
            <a:r>
              <a:rPr lang="en-US" sz="1100" dirty="0">
                <a:solidFill>
                  <a:schemeClr val="accent3"/>
                </a:solidFill>
              </a:rPr>
              <a:t>IMDb accuracy</a:t>
            </a:r>
            <a:endParaRPr lang="en-US" sz="1100" dirty="0"/>
          </a:p>
        </p:txBody>
      </p:sp>
      <p:sp>
        <p:nvSpPr>
          <p:cNvPr id="25" name="Era header 5"/>
          <p:cNvSpPr/>
          <p:nvPr/>
        </p:nvSpPr>
        <p:spPr>
          <a:xfrm>
            <a:off x="7132320" y="1280160"/>
            <a:ext cx="1554480" cy="640080"/>
          </a:xfrm>
          <a:prstGeom prst="rect">
            <a:avLst/>
          </a:prstGeom>
          <a:solidFill>
            <a:srgbClr val="14213D"/>
          </a:solidFill>
          <a:ln w="12700">
            <a:solidFill>
              <a:srgbClr val="14213D"/>
            </a:solidFill>
            <a:prstDash val="solid"/>
          </a:ln>
        </p:spPr>
      </p:sp>
      <p:sp>
        <p:nvSpPr>
          <p:cNvPr id="26" name="Text 24"/>
          <p:cNvSpPr txBox="1"/>
          <p:nvPr/>
        </p:nvSpPr>
        <p:spPr>
          <a:xfrm>
            <a:off x="7132320" y="1280160"/>
            <a:ext cx="1554480" cy="640080"/>
          </a:xfrm>
          <a:prstGeom prst="rect">
            <a:avLst/>
          </a:prstGeom>
          <a:noFill/>
          <a:ln/>
        </p:spPr>
        <p:txBody>
          <a:bodyPr wrap="square" lIns="635" tIns="635" rIns="635" bIns="635" rtlCol="0" anchor="ctr"/>
          <a:lstStyle/>
          <a:p>
            <a:pPr algn="ctr" indent="0" marL="0">
              <a:buNone/>
            </a:pPr>
            <a:r>
              <a:rPr lang="en-US" sz="1400" b="1" dirty="0">
                <a:solidFill>
                  <a:schemeClr val="bg1"/>
                </a:solidFill>
              </a:rPr>
              <a:t>This work</a:t>
            </a:r>
            <a:endParaRPr lang="en-US" sz="1400" dirty="0"/>
          </a:p>
        </p:txBody>
      </p:sp>
      <p:sp>
        <p:nvSpPr>
          <p:cNvPr id="27" name="Era body 5"/>
          <p:cNvSpPr/>
          <p:nvPr/>
        </p:nvSpPr>
        <p:spPr>
          <a:xfrm>
            <a:off x="7132320" y="1920240"/>
            <a:ext cx="1554480" cy="1325880"/>
          </a:xfrm>
          <a:prstGeom prst="rect">
            <a:avLst/>
          </a:prstGeom>
          <a:solidFill>
            <a:schemeClr val="bg2"/>
          </a:solidFill>
          <a:ln w="12700">
            <a:solidFill>
              <a:schemeClr val="bg2"/>
            </a:solidFill>
            <a:prstDash val="solid"/>
          </a:ln>
        </p:spPr>
      </p:sp>
      <p:sp>
        <p:nvSpPr>
          <p:cNvPr id="28" name="Text 26"/>
          <p:cNvSpPr txBox="1"/>
          <p:nvPr/>
        </p:nvSpPr>
        <p:spPr>
          <a:xfrm>
            <a:off x="7223760" y="2011680"/>
            <a:ext cx="1371600" cy="1371600"/>
          </a:xfrm>
          <a:prstGeom prst="rect">
            <a:avLst/>
          </a:prstGeom>
          <a:noFill/>
          <a:ln/>
        </p:spPr>
        <p:txBody>
          <a:bodyPr wrap="square" lIns="0" tIns="0" rIns="0" bIns="0" rtlCol="0" anchor="t"/>
          <a:lstStyle/>
          <a:p>
            <a:pPr indent="0" marL="0">
              <a:buNone/>
            </a:pPr>
            <a:r>
              <a:rPr lang="en-US" sz="1400" dirty="0">
                <a:solidFill>
                  <a:schemeClr val="tx1"/>
                </a:solidFill>
              </a:rPr>
              <a:t>ModernBERT plus attention pooling</a:t>
            </a:r>
            <a:endParaRPr lang="en-US" sz="1400" dirty="0"/>
          </a:p>
        </p:txBody>
      </p:sp>
      <p:sp>
        <p:nvSpPr>
          <p:cNvPr id="29" name="Text 27"/>
          <p:cNvSpPr txBox="1"/>
          <p:nvPr/>
        </p:nvSpPr>
        <p:spPr>
          <a:xfrm>
            <a:off x="7132320" y="3383280"/>
            <a:ext cx="1554480" cy="548640"/>
          </a:xfrm>
          <a:prstGeom prst="rect">
            <a:avLst/>
          </a:prstGeom>
          <a:noFill/>
          <a:ln/>
        </p:spPr>
        <p:txBody>
          <a:bodyPr wrap="square" lIns="0" tIns="0" rIns="0" bIns="0" rtlCol="0" anchor="ctr"/>
          <a:lstStyle/>
          <a:p>
            <a:pPr algn="ctr" indent="0" marL="0">
              <a:buNone/>
            </a:pPr>
            <a:r>
              <a:rPr lang="en-US" sz="2800" b="1" dirty="0">
                <a:solidFill>
                  <a:schemeClr val="accent1"/>
                </a:solidFill>
                <a:latin typeface="Cambria" pitchFamily="34" charset="0"/>
                <a:ea typeface="Cambria" pitchFamily="34" charset="-122"/>
                <a:cs typeface="Cambria" pitchFamily="34" charset="-120"/>
              </a:rPr>
              <a:t>95.93%</a:t>
            </a:r>
            <a:endParaRPr lang="en-US" sz="2800" dirty="0"/>
          </a:p>
        </p:txBody>
      </p:sp>
      <p:sp>
        <p:nvSpPr>
          <p:cNvPr id="30" name="Text 28"/>
          <p:cNvSpPr txBox="1"/>
          <p:nvPr/>
        </p:nvSpPr>
        <p:spPr>
          <a:xfrm>
            <a:off x="7132320" y="3931920"/>
            <a:ext cx="1554480" cy="228600"/>
          </a:xfrm>
          <a:prstGeom prst="rect">
            <a:avLst/>
          </a:prstGeom>
          <a:noFill/>
          <a:ln/>
        </p:spPr>
        <p:txBody>
          <a:bodyPr wrap="square" lIns="0" tIns="0" rIns="0" bIns="0" rtlCol="0" anchor="ctr"/>
          <a:lstStyle/>
          <a:p>
            <a:pPr algn="ctr" indent="0" marL="0">
              <a:buNone/>
            </a:pPr>
            <a:r>
              <a:rPr lang="en-US" sz="1100" dirty="0">
                <a:solidFill>
                  <a:schemeClr val="accent3"/>
                </a:solidFill>
              </a:rPr>
              <a:t>IMDb accuracy</a:t>
            </a:r>
            <a:endParaRPr lang="en-US" sz="1100" dirty="0"/>
          </a:p>
        </p:txBody>
      </p:sp>
      <p:sp>
        <p:nvSpPr>
          <p:cNvPr id="31" name="Text 29"/>
          <p:cNvSpPr txBox="1"/>
          <p:nvPr/>
        </p:nvSpPr>
        <p:spPr>
          <a:xfrm>
            <a:off x="457200" y="4297680"/>
            <a:ext cx="8229600" cy="256032"/>
          </a:xfrm>
          <a:prstGeom prst="rect">
            <a:avLst/>
          </a:prstGeom>
          <a:noFill/>
          <a:ln/>
        </p:spPr>
        <p:txBody>
          <a:bodyPr wrap="square" lIns="0" tIns="0" rIns="0" bIns="0" rtlCol="0" anchor="ctr"/>
          <a:lstStyle/>
          <a:p>
            <a:pPr indent="0" marL="0">
              <a:buNone/>
            </a:pPr>
            <a:r>
              <a:rPr lang="en-US" sz="1200" i="1" dirty="0">
                <a:solidFill>
                  <a:schemeClr val="accent3"/>
                </a:solidFill>
              </a:rPr>
              <a:t>First three results as reported in [3]; the last is this project, under a different setup.</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Problem and Research Gap</a:t>
            </a:r>
            <a:endParaRPr lang="en-US" sz="3200" dirty="0"/>
          </a:p>
        </p:txBody>
      </p:sp>
      <p:sp>
        <p:nvSpPr>
          <p:cNvPr id="3" name="Problem card"/>
          <p:cNvSpPr/>
          <p:nvPr/>
        </p:nvSpPr>
        <p:spPr>
          <a:xfrm>
            <a:off x="457200" y="1188720"/>
            <a:ext cx="4023360" cy="2286000"/>
          </a:xfrm>
          <a:prstGeom prst="rect">
            <a:avLst/>
          </a:prstGeom>
          <a:solidFill>
            <a:schemeClr val="bg2"/>
          </a:solidFill>
          <a:ln w="12700">
            <a:solidFill>
              <a:schemeClr val="bg2"/>
            </a:solidFill>
            <a:prstDash val="solid"/>
          </a:ln>
        </p:spPr>
      </p:sp>
      <p:sp>
        <p:nvSpPr>
          <p:cNvPr id="4" name="Text 2"/>
          <p:cNvSpPr txBox="1"/>
          <p:nvPr/>
        </p:nvSpPr>
        <p:spPr>
          <a:xfrm>
            <a:off x="640080" y="1280160"/>
            <a:ext cx="3657600" cy="3657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Problem</a:t>
            </a:r>
            <a:endParaRPr lang="en-US" sz="2000" dirty="0"/>
          </a:p>
        </p:txBody>
      </p:sp>
      <p:sp>
        <p:nvSpPr>
          <p:cNvPr id="5" name="Text 3"/>
          <p:cNvSpPr txBox="1"/>
          <p:nvPr/>
        </p:nvSpPr>
        <p:spPr>
          <a:xfrm>
            <a:off x="640080" y="1691640"/>
            <a:ext cx="3657600" cy="16916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Classify an IMDb review as positive or negative</a:t>
            </a:r>
            <a:endParaRPr lang="en-US" sz="1500" dirty="0"/>
          </a:p>
          <a:p>
            <a:pPr marL="342900" indent="-342900">
              <a:spcAft>
                <a:spcPts val="600"/>
              </a:spcAft>
              <a:buSzPct val="100000"/>
              <a:buChar char="•"/>
            </a:pPr>
            <a:r>
              <a:rPr lang="en-US" sz="1500" dirty="0">
                <a:solidFill>
                  <a:schemeClr val="tx1"/>
                </a:solidFill>
              </a:rPr>
              <a:t>Context, negation and mixed opinions make long reviews hard</a:t>
            </a:r>
            <a:endParaRPr lang="en-US" sz="1500" dirty="0"/>
          </a:p>
          <a:p>
            <a:pPr marL="342900" indent="-342900">
              <a:spcAft>
                <a:spcPts val="600"/>
              </a:spcAft>
              <a:buSzPct val="100000"/>
              <a:buChar char="•"/>
            </a:pPr>
            <a:r>
              <a:rPr lang="en-US" sz="1500" dirty="0">
                <a:solidFill>
                  <a:schemeClr val="tx1"/>
                </a:solidFill>
              </a:rPr>
              <a:t>Hand-made features miss context</a:t>
            </a:r>
            <a:endParaRPr lang="en-US" sz="1500" dirty="0"/>
          </a:p>
        </p:txBody>
      </p:sp>
      <p:sp>
        <p:nvSpPr>
          <p:cNvPr id="6" name="Gap card"/>
          <p:cNvSpPr/>
          <p:nvPr/>
        </p:nvSpPr>
        <p:spPr>
          <a:xfrm>
            <a:off x="4663440" y="1188720"/>
            <a:ext cx="4023360" cy="2286000"/>
          </a:xfrm>
          <a:prstGeom prst="rect">
            <a:avLst/>
          </a:prstGeom>
          <a:solidFill>
            <a:schemeClr val="bg2"/>
          </a:solidFill>
          <a:ln w="12700">
            <a:solidFill>
              <a:schemeClr val="bg2"/>
            </a:solidFill>
            <a:prstDash val="solid"/>
          </a:ln>
        </p:spPr>
      </p:sp>
      <p:sp>
        <p:nvSpPr>
          <p:cNvPr id="7" name="Text 5"/>
          <p:cNvSpPr txBox="1"/>
          <p:nvPr/>
        </p:nvSpPr>
        <p:spPr>
          <a:xfrm>
            <a:off x="4846320" y="1280160"/>
            <a:ext cx="3657600" cy="3657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Research gap</a:t>
            </a:r>
            <a:endParaRPr lang="en-US" sz="2000" dirty="0"/>
          </a:p>
        </p:txBody>
      </p:sp>
      <p:sp>
        <p:nvSpPr>
          <p:cNvPr id="8" name="Text 6"/>
          <p:cNvSpPr txBox="1"/>
          <p:nvPr/>
        </p:nvSpPr>
        <p:spPr>
          <a:xfrm>
            <a:off x="4846320" y="1691640"/>
            <a:ext cx="3657600" cy="16916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Hybrid RoBERTa-BiLSTM adds a recurrent layer and extra sequential cost</a:t>
            </a:r>
            <a:endParaRPr lang="en-US" sz="1500" dirty="0"/>
          </a:p>
          <a:p>
            <a:pPr marL="342900" indent="-342900">
              <a:spcAft>
                <a:spcPts val="600"/>
              </a:spcAft>
              <a:buSzPct val="100000"/>
              <a:buChar char="•"/>
            </a:pPr>
            <a:r>
              <a:rPr lang="en-US" sz="1500" dirty="0">
                <a:solidFill>
                  <a:schemeClr val="tx1"/>
                </a:solidFill>
              </a:rPr>
              <a:t>No reported test of ModernBERT with attention pooling on IMDb</a:t>
            </a:r>
            <a:endParaRPr lang="en-US" sz="1500" dirty="0"/>
          </a:p>
          <a:p>
            <a:pPr marL="342900" indent="-342900">
              <a:spcAft>
                <a:spcPts val="600"/>
              </a:spcAft>
              <a:buSzPct val="100000"/>
              <a:buChar char="•"/>
            </a:pPr>
            <a:r>
              <a:rPr lang="en-US" sz="1500" dirty="0">
                <a:solidFill>
                  <a:schemeClr val="tx1"/>
                </a:solidFill>
              </a:rPr>
              <a:t>Contribution of each part is still unclear</a:t>
            </a:r>
            <a:endParaRPr lang="en-US" sz="1500" dirty="0"/>
          </a:p>
        </p:txBody>
      </p:sp>
      <p:sp>
        <p:nvSpPr>
          <p:cNvPr id="9" name="Question band"/>
          <p:cNvSpPr/>
          <p:nvPr/>
        </p:nvSpPr>
        <p:spPr>
          <a:xfrm>
            <a:off x="457200" y="3657600"/>
            <a:ext cx="8229600" cy="868680"/>
          </a:xfrm>
          <a:prstGeom prst="rect">
            <a:avLst/>
          </a:prstGeom>
          <a:solidFill>
            <a:schemeClr val="tx2"/>
          </a:solidFill>
          <a:ln w="12700">
            <a:solidFill>
              <a:schemeClr val="tx2"/>
            </a:solidFill>
            <a:prstDash val="solid"/>
          </a:ln>
        </p:spPr>
      </p:sp>
      <p:sp>
        <p:nvSpPr>
          <p:cNvPr id="10" name="Text 8"/>
          <p:cNvSpPr txBox="1"/>
          <p:nvPr/>
        </p:nvSpPr>
        <p:spPr>
          <a:xfrm>
            <a:off x="685800" y="3657600"/>
            <a:ext cx="7772400" cy="868680"/>
          </a:xfrm>
          <a:prstGeom prst="rect">
            <a:avLst/>
          </a:prstGeom>
          <a:noFill/>
          <a:ln/>
        </p:spPr>
        <p:txBody>
          <a:bodyPr wrap="square" lIns="0" tIns="0" rIns="0" bIns="0" rtlCol="0" anchor="ctr"/>
          <a:lstStyle/>
          <a:p>
            <a:pPr indent="0" marL="0">
              <a:buNone/>
            </a:pPr>
            <a:r>
              <a:rPr lang="en-US" sz="1600" b="1" dirty="0">
                <a:solidFill>
                  <a:srgbClr val="E9A23B"/>
                </a:solidFill>
              </a:rPr>
              <a:t>Research question  </a:t>
            </a:r>
            <a:pPr indent="0" marL="0">
              <a:buNone/>
            </a:pPr>
            <a:r>
              <a:rPr lang="en-US" sz="1600" dirty="0">
                <a:solidFill>
                  <a:srgbClr val="FFFFFF"/>
                </a:solidFill>
              </a:rPr>
              <a:t>Can ModernBERT with attention pooling match or beat RoBERTa-BiLSTM on IMDb without any recurrent layer?</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Objectives</a:t>
            </a:r>
            <a:endParaRPr lang="en-US" sz="3200" dirty="0"/>
          </a:p>
        </p:txBody>
      </p:sp>
      <p:sp>
        <p:nvSpPr>
          <p:cNvPr id="3" name="Objective card 1"/>
          <p:cNvSpPr/>
          <p:nvPr/>
        </p:nvSpPr>
        <p:spPr>
          <a:xfrm>
            <a:off x="457200" y="1188720"/>
            <a:ext cx="2651760" cy="1554480"/>
          </a:xfrm>
          <a:prstGeom prst="rect">
            <a:avLst/>
          </a:prstGeom>
          <a:solidFill>
            <a:schemeClr val="bg2"/>
          </a:solidFill>
          <a:ln w="12700">
            <a:solidFill>
              <a:schemeClr val="bg2"/>
            </a:solidFill>
            <a:prstDash val="solid"/>
          </a:ln>
        </p:spPr>
      </p:sp>
      <p:sp>
        <p:nvSpPr>
          <p:cNvPr id="4" name="Text 2"/>
          <p:cNvSpPr txBox="1"/>
          <p:nvPr/>
        </p:nvSpPr>
        <p:spPr>
          <a:xfrm>
            <a:off x="594360" y="1280160"/>
            <a:ext cx="73152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a:t>
            </a:r>
            <a:endParaRPr lang="en-US" sz="3200" dirty="0"/>
          </a:p>
        </p:txBody>
      </p:sp>
      <p:sp>
        <p:nvSpPr>
          <p:cNvPr id="5" name="Text 3"/>
          <p:cNvSpPr txBox="1"/>
          <p:nvPr/>
        </p:nvSpPr>
        <p:spPr>
          <a:xfrm>
            <a:off x="594360" y="1828800"/>
            <a:ext cx="2377440" cy="274320"/>
          </a:xfrm>
          <a:prstGeom prst="rect">
            <a:avLst/>
          </a:prstGeom>
          <a:noFill/>
          <a:ln/>
        </p:spPr>
        <p:txBody>
          <a:bodyPr wrap="square" lIns="0" tIns="0" rIns="0" bIns="0" rtlCol="0" anchor="ctr"/>
          <a:lstStyle/>
          <a:p>
            <a:pPr indent="0" marL="0">
              <a:buNone/>
            </a:pPr>
            <a:r>
              <a:rPr lang="en-US" sz="1500" b="1" dirty="0">
                <a:solidFill>
                  <a:schemeClr val="tx2"/>
                </a:solidFill>
              </a:rPr>
              <a:t>Study the reference</a:t>
            </a:r>
            <a:endParaRPr lang="en-US" sz="1500" dirty="0"/>
          </a:p>
        </p:txBody>
      </p:sp>
      <p:sp>
        <p:nvSpPr>
          <p:cNvPr id="6" name="Text 4"/>
          <p:cNvSpPr txBox="1"/>
          <p:nvPr/>
        </p:nvSpPr>
        <p:spPr>
          <a:xfrm>
            <a:off x="594360" y="2103120"/>
            <a:ext cx="2377440" cy="594360"/>
          </a:xfrm>
          <a:prstGeom prst="rect">
            <a:avLst/>
          </a:prstGeom>
          <a:noFill/>
          <a:ln/>
        </p:spPr>
        <p:txBody>
          <a:bodyPr wrap="square" lIns="0" tIns="0" rIns="0" bIns="0" rtlCol="0" anchor="t"/>
          <a:lstStyle/>
          <a:p>
            <a:pPr indent="0" marL="0">
              <a:buNone/>
            </a:pPr>
            <a:r>
              <a:rPr lang="en-US" sz="1300" dirty="0">
                <a:solidFill>
                  <a:schemeClr val="tx1"/>
                </a:solidFill>
              </a:rPr>
              <a:t>Method, setup, results and limits of RoBERTa-BiLSTM</a:t>
            </a:r>
            <a:endParaRPr lang="en-US" sz="1300" dirty="0"/>
          </a:p>
        </p:txBody>
      </p:sp>
      <p:sp>
        <p:nvSpPr>
          <p:cNvPr id="7" name="Objective card 2"/>
          <p:cNvSpPr/>
          <p:nvPr/>
        </p:nvSpPr>
        <p:spPr>
          <a:xfrm>
            <a:off x="3246120" y="1188720"/>
            <a:ext cx="2651760" cy="1554480"/>
          </a:xfrm>
          <a:prstGeom prst="rect">
            <a:avLst/>
          </a:prstGeom>
          <a:solidFill>
            <a:schemeClr val="bg2"/>
          </a:solidFill>
          <a:ln w="12700">
            <a:solidFill>
              <a:schemeClr val="bg2"/>
            </a:solidFill>
            <a:prstDash val="solid"/>
          </a:ln>
        </p:spPr>
      </p:sp>
      <p:sp>
        <p:nvSpPr>
          <p:cNvPr id="8" name="Text 6"/>
          <p:cNvSpPr txBox="1"/>
          <p:nvPr/>
        </p:nvSpPr>
        <p:spPr>
          <a:xfrm>
            <a:off x="3383280" y="1280160"/>
            <a:ext cx="73152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a:t>
            </a:r>
            <a:endParaRPr lang="en-US" sz="3200" dirty="0"/>
          </a:p>
        </p:txBody>
      </p:sp>
      <p:sp>
        <p:nvSpPr>
          <p:cNvPr id="9" name="Text 7"/>
          <p:cNvSpPr txBox="1"/>
          <p:nvPr/>
        </p:nvSpPr>
        <p:spPr>
          <a:xfrm>
            <a:off x="3383280" y="1828800"/>
            <a:ext cx="2377440" cy="274320"/>
          </a:xfrm>
          <a:prstGeom prst="rect">
            <a:avLst/>
          </a:prstGeom>
          <a:noFill/>
          <a:ln/>
        </p:spPr>
        <p:txBody>
          <a:bodyPr wrap="square" lIns="0" tIns="0" rIns="0" bIns="0" rtlCol="0" anchor="ctr"/>
          <a:lstStyle/>
          <a:p>
            <a:pPr indent="0" marL="0">
              <a:buNone/>
            </a:pPr>
            <a:r>
              <a:rPr lang="en-US" sz="1500" b="1" dirty="0">
                <a:solidFill>
                  <a:schemeClr val="tx2"/>
                </a:solidFill>
              </a:rPr>
              <a:t>Prepare the data</a:t>
            </a:r>
            <a:endParaRPr lang="en-US" sz="1500" dirty="0"/>
          </a:p>
        </p:txBody>
      </p:sp>
      <p:sp>
        <p:nvSpPr>
          <p:cNvPr id="10" name="Text 8"/>
          <p:cNvSpPr txBox="1"/>
          <p:nvPr/>
        </p:nvSpPr>
        <p:spPr>
          <a:xfrm>
            <a:off x="3383280" y="2103120"/>
            <a:ext cx="2377440" cy="594360"/>
          </a:xfrm>
          <a:prstGeom prst="rect">
            <a:avLst/>
          </a:prstGeom>
          <a:noFill/>
          <a:ln/>
        </p:spPr>
        <p:txBody>
          <a:bodyPr wrap="square" lIns="0" tIns="0" rIns="0" bIns="0" rtlCol="0" anchor="t"/>
          <a:lstStyle/>
          <a:p>
            <a:pPr indent="0" marL="0">
              <a:buNone/>
            </a:pPr>
            <a:r>
              <a:rPr lang="en-US" sz="1300" dirty="0">
                <a:solidFill>
                  <a:schemeClr val="tx1"/>
                </a:solidFill>
              </a:rPr>
              <a:t>Remove duplicates, encode labels, split train, validation, test</a:t>
            </a:r>
            <a:endParaRPr lang="en-US" sz="1300" dirty="0"/>
          </a:p>
        </p:txBody>
      </p:sp>
      <p:sp>
        <p:nvSpPr>
          <p:cNvPr id="11" name="Objective card 3"/>
          <p:cNvSpPr/>
          <p:nvPr/>
        </p:nvSpPr>
        <p:spPr>
          <a:xfrm>
            <a:off x="6035040" y="1188720"/>
            <a:ext cx="2651760" cy="1554480"/>
          </a:xfrm>
          <a:prstGeom prst="rect">
            <a:avLst/>
          </a:prstGeom>
          <a:solidFill>
            <a:schemeClr val="bg2"/>
          </a:solidFill>
          <a:ln w="12700">
            <a:solidFill>
              <a:schemeClr val="bg2"/>
            </a:solidFill>
            <a:prstDash val="solid"/>
          </a:ln>
        </p:spPr>
      </p:sp>
      <p:sp>
        <p:nvSpPr>
          <p:cNvPr id="12" name="Text 10"/>
          <p:cNvSpPr txBox="1"/>
          <p:nvPr/>
        </p:nvSpPr>
        <p:spPr>
          <a:xfrm>
            <a:off x="6172200" y="1280160"/>
            <a:ext cx="73152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3</a:t>
            </a:r>
            <a:endParaRPr lang="en-US" sz="3200" dirty="0"/>
          </a:p>
        </p:txBody>
      </p:sp>
      <p:sp>
        <p:nvSpPr>
          <p:cNvPr id="13" name="Text 11"/>
          <p:cNvSpPr txBox="1"/>
          <p:nvPr/>
        </p:nvSpPr>
        <p:spPr>
          <a:xfrm>
            <a:off x="6172200" y="1828800"/>
            <a:ext cx="2377440" cy="274320"/>
          </a:xfrm>
          <a:prstGeom prst="rect">
            <a:avLst/>
          </a:prstGeom>
          <a:noFill/>
          <a:ln/>
        </p:spPr>
        <p:txBody>
          <a:bodyPr wrap="square" lIns="0" tIns="0" rIns="0" bIns="0" rtlCol="0" anchor="ctr"/>
          <a:lstStyle/>
          <a:p>
            <a:pPr indent="0" marL="0">
              <a:buNone/>
            </a:pPr>
            <a:r>
              <a:rPr lang="en-US" sz="1500" b="1" dirty="0">
                <a:solidFill>
                  <a:schemeClr val="tx2"/>
                </a:solidFill>
              </a:rPr>
              <a:t>Build the model</a:t>
            </a:r>
            <a:endParaRPr lang="en-US" sz="1500" dirty="0"/>
          </a:p>
        </p:txBody>
      </p:sp>
      <p:sp>
        <p:nvSpPr>
          <p:cNvPr id="14" name="Text 12"/>
          <p:cNvSpPr txBox="1"/>
          <p:nvPr/>
        </p:nvSpPr>
        <p:spPr>
          <a:xfrm>
            <a:off x="6172200" y="2103120"/>
            <a:ext cx="2377440" cy="594360"/>
          </a:xfrm>
          <a:prstGeom prst="rect">
            <a:avLst/>
          </a:prstGeom>
          <a:noFill/>
          <a:ln/>
        </p:spPr>
        <p:txBody>
          <a:bodyPr wrap="square" lIns="0" tIns="0" rIns="0" bIns="0" rtlCol="0" anchor="t"/>
          <a:lstStyle/>
          <a:p>
            <a:pPr indent="0" marL="0">
              <a:buNone/>
            </a:pPr>
            <a:r>
              <a:rPr lang="en-US" sz="1300" dirty="0">
                <a:solidFill>
                  <a:schemeClr val="tx1"/>
                </a:solidFill>
              </a:rPr>
              <a:t>ModernBERT-base with attention pooling and a [CLS] vector</a:t>
            </a:r>
            <a:endParaRPr lang="en-US" sz="1300" dirty="0"/>
          </a:p>
        </p:txBody>
      </p:sp>
      <p:sp>
        <p:nvSpPr>
          <p:cNvPr id="15" name="Objective card 4"/>
          <p:cNvSpPr/>
          <p:nvPr/>
        </p:nvSpPr>
        <p:spPr>
          <a:xfrm>
            <a:off x="457200" y="2880360"/>
            <a:ext cx="2651760" cy="1554480"/>
          </a:xfrm>
          <a:prstGeom prst="rect">
            <a:avLst/>
          </a:prstGeom>
          <a:solidFill>
            <a:schemeClr val="bg2"/>
          </a:solidFill>
          <a:ln w="12700">
            <a:solidFill>
              <a:schemeClr val="bg2"/>
            </a:solidFill>
            <a:prstDash val="solid"/>
          </a:ln>
        </p:spPr>
      </p:sp>
      <p:sp>
        <p:nvSpPr>
          <p:cNvPr id="16" name="Text 14"/>
          <p:cNvSpPr txBox="1"/>
          <p:nvPr/>
        </p:nvSpPr>
        <p:spPr>
          <a:xfrm>
            <a:off x="594360" y="2971800"/>
            <a:ext cx="73152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4</a:t>
            </a:r>
            <a:endParaRPr lang="en-US" sz="3200" dirty="0"/>
          </a:p>
        </p:txBody>
      </p:sp>
      <p:sp>
        <p:nvSpPr>
          <p:cNvPr id="17" name="Text 15"/>
          <p:cNvSpPr txBox="1"/>
          <p:nvPr/>
        </p:nvSpPr>
        <p:spPr>
          <a:xfrm>
            <a:off x="594360" y="3520440"/>
            <a:ext cx="2377440" cy="274320"/>
          </a:xfrm>
          <a:prstGeom prst="rect">
            <a:avLst/>
          </a:prstGeom>
          <a:noFill/>
          <a:ln/>
        </p:spPr>
        <p:txBody>
          <a:bodyPr wrap="square" lIns="0" tIns="0" rIns="0" bIns="0" rtlCol="0" anchor="ctr"/>
          <a:lstStyle/>
          <a:p>
            <a:pPr indent="0" marL="0">
              <a:buNone/>
            </a:pPr>
            <a:r>
              <a:rPr lang="en-US" sz="1500" b="1" dirty="0">
                <a:solidFill>
                  <a:schemeClr val="tx2"/>
                </a:solidFill>
              </a:rPr>
              <a:t>Measure performance</a:t>
            </a:r>
            <a:endParaRPr lang="en-US" sz="1500" dirty="0"/>
          </a:p>
        </p:txBody>
      </p:sp>
      <p:sp>
        <p:nvSpPr>
          <p:cNvPr id="18" name="Text 16"/>
          <p:cNvSpPr txBox="1"/>
          <p:nvPr/>
        </p:nvSpPr>
        <p:spPr>
          <a:xfrm>
            <a:off x="594360" y="3794760"/>
            <a:ext cx="2377440" cy="594360"/>
          </a:xfrm>
          <a:prstGeom prst="rect">
            <a:avLst/>
          </a:prstGeom>
          <a:noFill/>
          <a:ln/>
        </p:spPr>
        <p:txBody>
          <a:bodyPr wrap="square" lIns="0" tIns="0" rIns="0" bIns="0" rtlCol="0" anchor="t"/>
          <a:lstStyle/>
          <a:p>
            <a:pPr indent="0" marL="0">
              <a:buNone/>
            </a:pPr>
            <a:r>
              <a:rPr lang="en-US" sz="1300" dirty="0">
                <a:solidFill>
                  <a:schemeClr val="tx1"/>
                </a:solidFill>
              </a:rPr>
              <a:t>Accuracy, precision, recall, F1, confusion matrix</a:t>
            </a:r>
            <a:endParaRPr lang="en-US" sz="1300" dirty="0"/>
          </a:p>
        </p:txBody>
      </p:sp>
      <p:sp>
        <p:nvSpPr>
          <p:cNvPr id="19" name="Objective card 5"/>
          <p:cNvSpPr/>
          <p:nvPr/>
        </p:nvSpPr>
        <p:spPr>
          <a:xfrm>
            <a:off x="3246120" y="2880360"/>
            <a:ext cx="2651760" cy="1554480"/>
          </a:xfrm>
          <a:prstGeom prst="rect">
            <a:avLst/>
          </a:prstGeom>
          <a:solidFill>
            <a:schemeClr val="bg2"/>
          </a:solidFill>
          <a:ln w="12700">
            <a:solidFill>
              <a:schemeClr val="bg2"/>
            </a:solidFill>
            <a:prstDash val="solid"/>
          </a:ln>
        </p:spPr>
      </p:sp>
      <p:sp>
        <p:nvSpPr>
          <p:cNvPr id="20" name="Text 18"/>
          <p:cNvSpPr txBox="1"/>
          <p:nvPr/>
        </p:nvSpPr>
        <p:spPr>
          <a:xfrm>
            <a:off x="3383280" y="2971800"/>
            <a:ext cx="73152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5</a:t>
            </a:r>
            <a:endParaRPr lang="en-US" sz="3200" dirty="0"/>
          </a:p>
        </p:txBody>
      </p:sp>
      <p:sp>
        <p:nvSpPr>
          <p:cNvPr id="21" name="Text 19"/>
          <p:cNvSpPr txBox="1"/>
          <p:nvPr/>
        </p:nvSpPr>
        <p:spPr>
          <a:xfrm>
            <a:off x="3383280" y="3520440"/>
            <a:ext cx="2377440" cy="274320"/>
          </a:xfrm>
          <a:prstGeom prst="rect">
            <a:avLst/>
          </a:prstGeom>
          <a:noFill/>
          <a:ln/>
        </p:spPr>
        <p:txBody>
          <a:bodyPr wrap="square" lIns="0" tIns="0" rIns="0" bIns="0" rtlCol="0" anchor="ctr"/>
          <a:lstStyle/>
          <a:p>
            <a:pPr indent="0" marL="0">
              <a:buNone/>
            </a:pPr>
            <a:r>
              <a:rPr lang="en-US" sz="1500" b="1" dirty="0">
                <a:solidFill>
                  <a:schemeClr val="tx2"/>
                </a:solidFill>
              </a:rPr>
              <a:t>Compare honestly</a:t>
            </a:r>
            <a:endParaRPr lang="en-US" sz="1500" dirty="0"/>
          </a:p>
        </p:txBody>
      </p:sp>
      <p:sp>
        <p:nvSpPr>
          <p:cNvPr id="22" name="Text 20"/>
          <p:cNvSpPr txBox="1"/>
          <p:nvPr/>
        </p:nvSpPr>
        <p:spPr>
          <a:xfrm>
            <a:off x="3383280" y="3794760"/>
            <a:ext cx="2377440" cy="594360"/>
          </a:xfrm>
          <a:prstGeom prst="rect">
            <a:avLst/>
          </a:prstGeom>
          <a:noFill/>
          <a:ln/>
        </p:spPr>
        <p:txBody>
          <a:bodyPr wrap="square" lIns="0" tIns="0" rIns="0" bIns="0" rtlCol="0" anchor="t"/>
          <a:lstStyle/>
          <a:p>
            <a:pPr indent="0" marL="0">
              <a:buNone/>
            </a:pPr>
            <a:r>
              <a:rPr lang="en-US" sz="1300" dirty="0">
                <a:solidFill>
                  <a:schemeClr val="tx1"/>
                </a:solidFill>
              </a:rPr>
              <a:t>Against the reference, with ablations planned</a:t>
            </a:r>
            <a:endParaRPr lang="en-US" sz="1300" dirty="0"/>
          </a:p>
        </p:txBody>
      </p:sp>
      <p:sp>
        <p:nvSpPr>
          <p:cNvPr id="23" name="Objective card 6"/>
          <p:cNvSpPr/>
          <p:nvPr/>
        </p:nvSpPr>
        <p:spPr>
          <a:xfrm>
            <a:off x="6035040" y="2880360"/>
            <a:ext cx="2651760" cy="1554480"/>
          </a:xfrm>
          <a:prstGeom prst="rect">
            <a:avLst/>
          </a:prstGeom>
          <a:solidFill>
            <a:schemeClr val="bg2"/>
          </a:solidFill>
          <a:ln w="12700">
            <a:solidFill>
              <a:schemeClr val="bg2"/>
            </a:solidFill>
            <a:prstDash val="solid"/>
          </a:ln>
        </p:spPr>
      </p:sp>
      <p:sp>
        <p:nvSpPr>
          <p:cNvPr id="24" name="Text 22"/>
          <p:cNvSpPr txBox="1"/>
          <p:nvPr/>
        </p:nvSpPr>
        <p:spPr>
          <a:xfrm>
            <a:off x="6172200" y="2971800"/>
            <a:ext cx="73152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6</a:t>
            </a:r>
            <a:endParaRPr lang="en-US" sz="3200" dirty="0"/>
          </a:p>
        </p:txBody>
      </p:sp>
      <p:sp>
        <p:nvSpPr>
          <p:cNvPr id="25" name="Text 23"/>
          <p:cNvSpPr txBox="1"/>
          <p:nvPr/>
        </p:nvSpPr>
        <p:spPr>
          <a:xfrm>
            <a:off x="6172200" y="3520440"/>
            <a:ext cx="2377440" cy="274320"/>
          </a:xfrm>
          <a:prstGeom prst="rect">
            <a:avLst/>
          </a:prstGeom>
          <a:noFill/>
          <a:ln/>
        </p:spPr>
        <p:txBody>
          <a:bodyPr wrap="square" lIns="0" tIns="0" rIns="0" bIns="0" rtlCol="0" anchor="ctr"/>
          <a:lstStyle/>
          <a:p>
            <a:pPr indent="0" marL="0">
              <a:buNone/>
            </a:pPr>
            <a:r>
              <a:rPr lang="en-US" sz="1500" b="1" dirty="0">
                <a:solidFill>
                  <a:schemeClr val="tx2"/>
                </a:solidFill>
              </a:rPr>
              <a:t>Identify improvements</a:t>
            </a:r>
            <a:endParaRPr lang="en-US" sz="1500" dirty="0"/>
          </a:p>
        </p:txBody>
      </p:sp>
      <p:sp>
        <p:nvSpPr>
          <p:cNvPr id="26" name="Text 24"/>
          <p:cNvSpPr txBox="1"/>
          <p:nvPr/>
        </p:nvSpPr>
        <p:spPr>
          <a:xfrm>
            <a:off x="6172200" y="3794760"/>
            <a:ext cx="2377440" cy="594360"/>
          </a:xfrm>
          <a:prstGeom prst="rect">
            <a:avLst/>
          </a:prstGeom>
          <a:noFill/>
          <a:ln/>
        </p:spPr>
        <p:txBody>
          <a:bodyPr wrap="square" lIns="0" tIns="0" rIns="0" bIns="0" rtlCol="0" anchor="t"/>
          <a:lstStyle/>
          <a:p>
            <a:pPr indent="0" marL="0">
              <a:buNone/>
            </a:pPr>
            <a:r>
              <a:rPr lang="en-US" sz="1300" dirty="0">
                <a:solidFill>
                  <a:schemeClr val="tx1"/>
                </a:solidFill>
              </a:rPr>
              <a:t>Hyperparameters, sequence length, dropout, architecture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Dataset and Preprocessing</a:t>
            </a:r>
            <a:endParaRPr lang="en-US" sz="3200" dirty="0"/>
          </a:p>
        </p:txBody>
      </p:sp>
      <p:sp>
        <p:nvSpPr>
          <p:cNvPr id="3" name="Step badge 1"/>
          <p:cNvSpPr/>
          <p:nvPr/>
        </p:nvSpPr>
        <p:spPr>
          <a:xfrm>
            <a:off x="457200" y="1216152"/>
            <a:ext cx="457200" cy="457200"/>
          </a:xfrm>
          <a:prstGeom prst="ellipse">
            <a:avLst/>
          </a:prstGeom>
          <a:solidFill>
            <a:schemeClr val="tx2"/>
          </a:solidFill>
          <a:ln w="12700">
            <a:solidFill>
              <a:schemeClr val="tx2"/>
            </a:solidFill>
            <a:prstDash val="solid"/>
          </a:ln>
        </p:spPr>
      </p:sp>
      <p:sp>
        <p:nvSpPr>
          <p:cNvPr id="4" name="Text 2"/>
          <p:cNvSpPr txBox="1"/>
          <p:nvPr/>
        </p:nvSpPr>
        <p:spPr>
          <a:xfrm>
            <a:off x="457200" y="121615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097280" y="1143000"/>
            <a:ext cx="3474720" cy="274320"/>
          </a:xfrm>
          <a:prstGeom prst="rect">
            <a:avLst/>
          </a:prstGeom>
          <a:noFill/>
          <a:ln/>
        </p:spPr>
        <p:txBody>
          <a:bodyPr wrap="square" lIns="0" tIns="0" rIns="0" bIns="0" rtlCol="0" anchor="ctr"/>
          <a:lstStyle/>
          <a:p>
            <a:pPr indent="0" marL="0">
              <a:buNone/>
            </a:pPr>
            <a:r>
              <a:rPr lang="en-US" sz="1600" b="1" dirty="0">
                <a:solidFill>
                  <a:schemeClr val="tx2"/>
                </a:solidFill>
              </a:rPr>
              <a:t>Load</a:t>
            </a:r>
            <a:endParaRPr lang="en-US" sz="1600" dirty="0"/>
          </a:p>
        </p:txBody>
      </p:sp>
      <p:sp>
        <p:nvSpPr>
          <p:cNvPr id="6" name="Text 4"/>
          <p:cNvSpPr txBox="1"/>
          <p:nvPr/>
        </p:nvSpPr>
        <p:spPr>
          <a:xfrm>
            <a:off x="1097280" y="1417320"/>
            <a:ext cx="3474720" cy="502920"/>
          </a:xfrm>
          <a:prstGeom prst="rect">
            <a:avLst/>
          </a:prstGeom>
          <a:noFill/>
          <a:ln/>
        </p:spPr>
        <p:txBody>
          <a:bodyPr wrap="square" lIns="0" tIns="0" rIns="0" bIns="0" rtlCol="0" anchor="t"/>
          <a:lstStyle/>
          <a:p>
            <a:pPr indent="0" marL="0">
              <a:buNone/>
            </a:pPr>
            <a:r>
              <a:rPr lang="en-US" sz="1400" dirty="0">
                <a:solidFill>
                  <a:schemeClr val="tx1"/>
                </a:solidFill>
              </a:rPr>
              <a:t>50,000 labelled IMDb reviews [12]</a:t>
            </a:r>
            <a:endParaRPr lang="en-US" sz="1400" dirty="0"/>
          </a:p>
        </p:txBody>
      </p:sp>
      <p:sp>
        <p:nvSpPr>
          <p:cNvPr id="7" name="Step badge 2"/>
          <p:cNvSpPr/>
          <p:nvPr/>
        </p:nvSpPr>
        <p:spPr>
          <a:xfrm>
            <a:off x="457200" y="2112264"/>
            <a:ext cx="457200" cy="457200"/>
          </a:xfrm>
          <a:prstGeom prst="ellipse">
            <a:avLst/>
          </a:prstGeom>
          <a:solidFill>
            <a:schemeClr val="tx2"/>
          </a:solidFill>
          <a:ln w="12700">
            <a:solidFill>
              <a:schemeClr val="tx2"/>
            </a:solidFill>
            <a:prstDash val="solid"/>
          </a:ln>
        </p:spPr>
      </p:sp>
      <p:sp>
        <p:nvSpPr>
          <p:cNvPr id="8" name="Text 6"/>
          <p:cNvSpPr txBox="1"/>
          <p:nvPr/>
        </p:nvSpPr>
        <p:spPr>
          <a:xfrm>
            <a:off x="457200" y="211226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1097280" y="2039112"/>
            <a:ext cx="3474720" cy="274320"/>
          </a:xfrm>
          <a:prstGeom prst="rect">
            <a:avLst/>
          </a:prstGeom>
          <a:noFill/>
          <a:ln/>
        </p:spPr>
        <p:txBody>
          <a:bodyPr wrap="square" lIns="0" tIns="0" rIns="0" bIns="0" rtlCol="0" anchor="ctr"/>
          <a:lstStyle/>
          <a:p>
            <a:pPr indent="0" marL="0">
              <a:buNone/>
            </a:pPr>
            <a:r>
              <a:rPr lang="en-US" sz="1600" b="1" dirty="0">
                <a:solidFill>
                  <a:schemeClr val="tx2"/>
                </a:solidFill>
              </a:rPr>
              <a:t>Deduplicate</a:t>
            </a:r>
            <a:endParaRPr lang="en-US" sz="1600" dirty="0"/>
          </a:p>
        </p:txBody>
      </p:sp>
      <p:sp>
        <p:nvSpPr>
          <p:cNvPr id="10" name="Text 8"/>
          <p:cNvSpPr txBox="1"/>
          <p:nvPr/>
        </p:nvSpPr>
        <p:spPr>
          <a:xfrm>
            <a:off x="1097280" y="2313432"/>
            <a:ext cx="3474720" cy="502920"/>
          </a:xfrm>
          <a:prstGeom prst="rect">
            <a:avLst/>
          </a:prstGeom>
          <a:noFill/>
          <a:ln/>
        </p:spPr>
        <p:txBody>
          <a:bodyPr wrap="square" lIns="0" tIns="0" rIns="0" bIns="0" rtlCol="0" anchor="t"/>
          <a:lstStyle/>
          <a:p>
            <a:pPr indent="0" marL="0">
              <a:buNone/>
            </a:pPr>
            <a:r>
              <a:rPr lang="en-US" sz="1400" dirty="0">
                <a:solidFill>
                  <a:schemeClr val="tx1"/>
                </a:solidFill>
              </a:rPr>
              <a:t>418 exact duplicates removed, 49,582 remain</a:t>
            </a:r>
            <a:endParaRPr lang="en-US" sz="1400" dirty="0"/>
          </a:p>
        </p:txBody>
      </p:sp>
      <p:sp>
        <p:nvSpPr>
          <p:cNvPr id="11" name="Step badge 3"/>
          <p:cNvSpPr/>
          <p:nvPr/>
        </p:nvSpPr>
        <p:spPr>
          <a:xfrm>
            <a:off x="457200" y="3008376"/>
            <a:ext cx="457200" cy="457200"/>
          </a:xfrm>
          <a:prstGeom prst="ellipse">
            <a:avLst/>
          </a:prstGeom>
          <a:solidFill>
            <a:schemeClr val="tx2"/>
          </a:solidFill>
          <a:ln w="12700">
            <a:solidFill>
              <a:schemeClr val="tx2"/>
            </a:solidFill>
            <a:prstDash val="solid"/>
          </a:ln>
        </p:spPr>
      </p:sp>
      <p:sp>
        <p:nvSpPr>
          <p:cNvPr id="12" name="Text 10"/>
          <p:cNvSpPr txBox="1"/>
          <p:nvPr/>
        </p:nvSpPr>
        <p:spPr>
          <a:xfrm>
            <a:off x="457200" y="300837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1097280" y="2935224"/>
            <a:ext cx="3474720" cy="274320"/>
          </a:xfrm>
          <a:prstGeom prst="rect">
            <a:avLst/>
          </a:prstGeom>
          <a:noFill/>
          <a:ln/>
        </p:spPr>
        <p:txBody>
          <a:bodyPr wrap="square" lIns="0" tIns="0" rIns="0" bIns="0" rtlCol="0" anchor="ctr"/>
          <a:lstStyle/>
          <a:p>
            <a:pPr indent="0" marL="0">
              <a:buNone/>
            </a:pPr>
            <a:r>
              <a:rPr lang="en-US" sz="1600" b="1" dirty="0">
                <a:solidFill>
                  <a:schemeClr val="tx2"/>
                </a:solidFill>
              </a:rPr>
              <a:t>Split</a:t>
            </a:r>
            <a:endParaRPr lang="en-US" sz="1600" dirty="0"/>
          </a:p>
        </p:txBody>
      </p:sp>
      <p:sp>
        <p:nvSpPr>
          <p:cNvPr id="14" name="Text 12"/>
          <p:cNvSpPr txBox="1"/>
          <p:nvPr/>
        </p:nvSpPr>
        <p:spPr>
          <a:xfrm>
            <a:off x="1097280" y="3209544"/>
            <a:ext cx="3474720" cy="502920"/>
          </a:xfrm>
          <a:prstGeom prst="rect">
            <a:avLst/>
          </a:prstGeom>
          <a:noFill/>
          <a:ln/>
        </p:spPr>
        <p:txBody>
          <a:bodyPr wrap="square" lIns="0" tIns="0" rIns="0" bIns="0" rtlCol="0" anchor="t"/>
          <a:lstStyle/>
          <a:p>
            <a:pPr indent="0" marL="0">
              <a:buNone/>
            </a:pPr>
            <a:r>
              <a:rPr lang="en-US" sz="1400" dirty="0">
                <a:solidFill>
                  <a:schemeClr val="tx1"/>
                </a:solidFill>
              </a:rPr>
              <a:t>About 80 / 10 / 10, test set held out</a:t>
            </a:r>
            <a:endParaRPr lang="en-US" sz="1400" dirty="0"/>
          </a:p>
        </p:txBody>
      </p:sp>
      <p:sp>
        <p:nvSpPr>
          <p:cNvPr id="15" name="Step badge 4"/>
          <p:cNvSpPr/>
          <p:nvPr/>
        </p:nvSpPr>
        <p:spPr>
          <a:xfrm>
            <a:off x="457200" y="3904488"/>
            <a:ext cx="457200" cy="457200"/>
          </a:xfrm>
          <a:prstGeom prst="ellipse">
            <a:avLst/>
          </a:prstGeom>
          <a:solidFill>
            <a:schemeClr val="tx2"/>
          </a:solidFill>
          <a:ln w="12700">
            <a:solidFill>
              <a:schemeClr val="tx2"/>
            </a:solidFill>
            <a:prstDash val="solid"/>
          </a:ln>
        </p:spPr>
      </p:sp>
      <p:sp>
        <p:nvSpPr>
          <p:cNvPr id="16" name="Text 14"/>
          <p:cNvSpPr txBox="1"/>
          <p:nvPr/>
        </p:nvSpPr>
        <p:spPr>
          <a:xfrm>
            <a:off x="457200" y="390448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5"/>
          <p:cNvSpPr txBox="1"/>
          <p:nvPr/>
        </p:nvSpPr>
        <p:spPr>
          <a:xfrm>
            <a:off x="1097280" y="3831336"/>
            <a:ext cx="3474720" cy="274320"/>
          </a:xfrm>
          <a:prstGeom prst="rect">
            <a:avLst/>
          </a:prstGeom>
          <a:noFill/>
          <a:ln/>
        </p:spPr>
        <p:txBody>
          <a:bodyPr wrap="square" lIns="0" tIns="0" rIns="0" bIns="0" rtlCol="0" anchor="ctr"/>
          <a:lstStyle/>
          <a:p>
            <a:pPr indent="0" marL="0">
              <a:buNone/>
            </a:pPr>
            <a:r>
              <a:rPr lang="en-US" sz="1600" b="1" dirty="0">
                <a:solidFill>
                  <a:schemeClr val="tx2"/>
                </a:solidFill>
              </a:rPr>
              <a:t>Tokenize</a:t>
            </a:r>
            <a:endParaRPr lang="en-US" sz="1600" dirty="0"/>
          </a:p>
        </p:txBody>
      </p:sp>
      <p:sp>
        <p:nvSpPr>
          <p:cNvPr id="18" name="Text 16"/>
          <p:cNvSpPr txBox="1"/>
          <p:nvPr/>
        </p:nvSpPr>
        <p:spPr>
          <a:xfrm>
            <a:off x="1097280" y="4105656"/>
            <a:ext cx="3474720" cy="502920"/>
          </a:xfrm>
          <a:prstGeom prst="rect">
            <a:avLst/>
          </a:prstGeom>
          <a:noFill/>
          <a:ln/>
        </p:spPr>
        <p:txBody>
          <a:bodyPr wrap="square" lIns="0" tIns="0" rIns="0" bIns="0" rtlCol="0" anchor="t"/>
          <a:lstStyle/>
          <a:p>
            <a:pPr indent="0" marL="0">
              <a:buNone/>
            </a:pPr>
            <a:r>
              <a:rPr lang="en-US" sz="1400" dirty="0">
                <a:solidFill>
                  <a:schemeClr val="tx1"/>
                </a:solidFill>
              </a:rPr>
              <a:t>ModernBERT BPE tokenizer, 512 tokens, attention mask</a:t>
            </a:r>
            <a:endParaRPr lang="en-US" sz="1400" dirty="0"/>
          </a:p>
        </p:txBody>
      </p:sp>
      <p:sp>
        <p:nvSpPr>
          <p:cNvPr id="19" name="Chart card"/>
          <p:cNvSpPr/>
          <p:nvPr/>
        </p:nvSpPr>
        <p:spPr>
          <a:xfrm>
            <a:off x="4846320" y="1188720"/>
            <a:ext cx="3840480" cy="3383280"/>
          </a:xfrm>
          <a:prstGeom prst="rect">
            <a:avLst/>
          </a:prstGeom>
          <a:solidFill>
            <a:schemeClr val="bg2"/>
          </a:solidFill>
          <a:ln w="12700">
            <a:solidFill>
              <a:schemeClr val="bg2"/>
            </a:solidFill>
            <a:prstDash val="solid"/>
          </a:ln>
        </p:spPr>
      </p:sp>
      <p:graphicFrame>
        <p:nvGraphicFramePr>
          <p:cNvPr id="20" name="Chart 0" descr=""/>
          <p:cNvGraphicFramePr/>
          <p:nvPr/>
        </p:nvGraphicFramePr>
        <p:xfrm>
          <a:off x="4937760" y="1280160"/>
          <a:ext cx="3657600" cy="32004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ModernBERT-base Encoder</a:t>
            </a:r>
            <a:endParaRPr lang="en-US" sz="3200" dirty="0"/>
          </a:p>
        </p:txBody>
      </p:sp>
      <p:pic>
        <p:nvPicPr>
          <p:cNvPr id="3" name="Image 0" descr="ModernBERT-base architecture, black and white">    </p:cNvPr>
          <p:cNvPicPr>
            <a:picLocks noChangeAspect="1"/>
          </p:cNvPicPr>
          <p:nvPr/>
        </p:nvPicPr>
        <p:blipFill>
          <a:blip r:embed="rId1"/>
          <a:stretch>
            <a:fillRect/>
          </a:stretch>
        </p:blipFill>
        <p:spPr>
          <a:xfrm>
            <a:off x="457200" y="1051560"/>
            <a:ext cx="3063240" cy="3666744"/>
          </a:xfrm>
          <a:prstGeom prst="rect">
            <a:avLst/>
          </a:prstGeom>
        </p:spPr>
      </p:pic>
      <p:sp>
        <p:nvSpPr>
          <p:cNvPr id="4" name="Fact card 1"/>
          <p:cNvSpPr/>
          <p:nvPr/>
        </p:nvSpPr>
        <p:spPr>
          <a:xfrm>
            <a:off x="3840480" y="1097280"/>
            <a:ext cx="4846320" cy="621792"/>
          </a:xfrm>
          <a:prstGeom prst="rect">
            <a:avLst/>
          </a:prstGeom>
          <a:solidFill>
            <a:schemeClr val="bg2"/>
          </a:solidFill>
          <a:ln w="12700">
            <a:solidFill>
              <a:schemeClr val="bg2"/>
            </a:solidFill>
            <a:prstDash val="solid"/>
          </a:ln>
        </p:spPr>
      </p:sp>
      <p:sp>
        <p:nvSpPr>
          <p:cNvPr id="5" name="Text 2"/>
          <p:cNvSpPr txBox="1"/>
          <p:nvPr/>
        </p:nvSpPr>
        <p:spPr>
          <a:xfrm>
            <a:off x="3977640" y="1133856"/>
            <a:ext cx="4572000" cy="274320"/>
          </a:xfrm>
          <a:prstGeom prst="rect">
            <a:avLst/>
          </a:prstGeom>
          <a:noFill/>
          <a:ln/>
        </p:spPr>
        <p:txBody>
          <a:bodyPr wrap="square" lIns="0" tIns="0" rIns="0" bIns="0" rtlCol="0" anchor="ctr"/>
          <a:lstStyle/>
          <a:p>
            <a:pPr indent="0" marL="0">
              <a:buNone/>
            </a:pPr>
            <a:r>
              <a:rPr lang="en-US" sz="1500" b="1" dirty="0">
                <a:solidFill>
                  <a:schemeClr val="tx2"/>
                </a:solidFill>
              </a:rPr>
              <a:t>22 layers, H = 768</a:t>
            </a:r>
            <a:endParaRPr lang="en-US" sz="1500" dirty="0"/>
          </a:p>
        </p:txBody>
      </p:sp>
      <p:sp>
        <p:nvSpPr>
          <p:cNvPr id="6" name="Text 3"/>
          <p:cNvSpPr txBox="1"/>
          <p:nvPr/>
        </p:nvSpPr>
        <p:spPr>
          <a:xfrm>
            <a:off x="3977640" y="1408176"/>
            <a:ext cx="4572000" cy="274320"/>
          </a:xfrm>
          <a:prstGeom prst="rect">
            <a:avLst/>
          </a:prstGeom>
          <a:noFill/>
          <a:ln/>
        </p:spPr>
        <p:txBody>
          <a:bodyPr wrap="square" lIns="0" tIns="0" rIns="0" bIns="0" rtlCol="0" anchor="ctr"/>
          <a:lstStyle/>
          <a:p>
            <a:pPr indent="0" marL="0">
              <a:buNone/>
            </a:pPr>
            <a:r>
              <a:rPr lang="en-US" sz="1300" dirty="0">
                <a:solidFill>
                  <a:schemeClr val="tx1"/>
                </a:solidFill>
              </a:rPr>
              <a:t>12 attention heads per layer</a:t>
            </a:r>
            <a:endParaRPr lang="en-US" sz="1300" dirty="0"/>
          </a:p>
        </p:txBody>
      </p:sp>
      <p:sp>
        <p:nvSpPr>
          <p:cNvPr id="7" name="Fact card 2"/>
          <p:cNvSpPr/>
          <p:nvPr/>
        </p:nvSpPr>
        <p:spPr>
          <a:xfrm>
            <a:off x="3840480" y="1801368"/>
            <a:ext cx="4846320" cy="621792"/>
          </a:xfrm>
          <a:prstGeom prst="rect">
            <a:avLst/>
          </a:prstGeom>
          <a:solidFill>
            <a:schemeClr val="bg2"/>
          </a:solidFill>
          <a:ln w="12700">
            <a:solidFill>
              <a:schemeClr val="bg2"/>
            </a:solidFill>
            <a:prstDash val="solid"/>
          </a:ln>
        </p:spPr>
      </p:sp>
      <p:sp>
        <p:nvSpPr>
          <p:cNvPr id="8" name="Text 5"/>
          <p:cNvSpPr txBox="1"/>
          <p:nvPr/>
        </p:nvSpPr>
        <p:spPr>
          <a:xfrm>
            <a:off x="3977640" y="1837944"/>
            <a:ext cx="4572000" cy="274320"/>
          </a:xfrm>
          <a:prstGeom prst="rect">
            <a:avLst/>
          </a:prstGeom>
          <a:noFill/>
          <a:ln/>
        </p:spPr>
        <p:txBody>
          <a:bodyPr wrap="square" lIns="0" tIns="0" rIns="0" bIns="0" rtlCol="0" anchor="ctr"/>
          <a:lstStyle/>
          <a:p>
            <a:pPr indent="0" marL="0">
              <a:buNone/>
            </a:pPr>
            <a:r>
              <a:rPr lang="en-US" sz="1500" b="1" dirty="0">
                <a:solidFill>
                  <a:schemeClr val="tx2"/>
                </a:solidFill>
              </a:rPr>
              <a:t>Rotary position embeddings</a:t>
            </a:r>
            <a:endParaRPr lang="en-US" sz="1500" dirty="0"/>
          </a:p>
        </p:txBody>
      </p:sp>
      <p:sp>
        <p:nvSpPr>
          <p:cNvPr id="9" name="Text 6"/>
          <p:cNvSpPr txBox="1"/>
          <p:nvPr/>
        </p:nvSpPr>
        <p:spPr>
          <a:xfrm>
            <a:off x="3977640" y="2112264"/>
            <a:ext cx="4572000" cy="274320"/>
          </a:xfrm>
          <a:prstGeom prst="rect">
            <a:avLst/>
          </a:prstGeom>
          <a:noFill/>
          <a:ln/>
        </p:spPr>
        <p:txBody>
          <a:bodyPr wrap="square" lIns="0" tIns="0" rIns="0" bIns="0" rtlCol="0" anchor="ctr"/>
          <a:lstStyle/>
          <a:p>
            <a:pPr indent="0" marL="0">
              <a:buNone/>
            </a:pPr>
            <a:r>
              <a:rPr lang="en-US" sz="1300" dirty="0">
                <a:solidFill>
                  <a:schemeClr val="tx1"/>
                </a:solidFill>
              </a:rPr>
              <a:t>Relative position, longer inputs [19]</a:t>
            </a:r>
            <a:endParaRPr lang="en-US" sz="1300" dirty="0"/>
          </a:p>
        </p:txBody>
      </p:sp>
      <p:sp>
        <p:nvSpPr>
          <p:cNvPr id="10" name="Fact card 3"/>
          <p:cNvSpPr/>
          <p:nvPr/>
        </p:nvSpPr>
        <p:spPr>
          <a:xfrm>
            <a:off x="3840480" y="2505456"/>
            <a:ext cx="4846320" cy="621792"/>
          </a:xfrm>
          <a:prstGeom prst="rect">
            <a:avLst/>
          </a:prstGeom>
          <a:solidFill>
            <a:schemeClr val="bg2"/>
          </a:solidFill>
          <a:ln w="12700">
            <a:solidFill>
              <a:schemeClr val="bg2"/>
            </a:solidFill>
            <a:prstDash val="solid"/>
          </a:ln>
        </p:spPr>
      </p:sp>
      <p:sp>
        <p:nvSpPr>
          <p:cNvPr id="11" name="Text 8"/>
          <p:cNvSpPr txBox="1"/>
          <p:nvPr/>
        </p:nvSpPr>
        <p:spPr>
          <a:xfrm>
            <a:off x="3977640" y="2542032"/>
            <a:ext cx="4572000" cy="274320"/>
          </a:xfrm>
          <a:prstGeom prst="rect">
            <a:avLst/>
          </a:prstGeom>
          <a:noFill/>
          <a:ln/>
        </p:spPr>
        <p:txBody>
          <a:bodyPr wrap="square" lIns="0" tIns="0" rIns="0" bIns="0" rtlCol="0" anchor="ctr"/>
          <a:lstStyle/>
          <a:p>
            <a:pPr indent="0" marL="0">
              <a:buNone/>
            </a:pPr>
            <a:r>
              <a:rPr lang="en-US" sz="1500" b="1" dirty="0">
                <a:solidFill>
                  <a:schemeClr val="tx2"/>
                </a:solidFill>
              </a:rPr>
              <a:t>GeGLU feed-forward</a:t>
            </a:r>
            <a:endParaRPr lang="en-US" sz="1500" dirty="0"/>
          </a:p>
        </p:txBody>
      </p:sp>
      <p:sp>
        <p:nvSpPr>
          <p:cNvPr id="12" name="Text 9"/>
          <p:cNvSpPr txBox="1"/>
          <p:nvPr/>
        </p:nvSpPr>
        <p:spPr>
          <a:xfrm>
            <a:off x="3977640" y="2816352"/>
            <a:ext cx="4572000" cy="274320"/>
          </a:xfrm>
          <a:prstGeom prst="rect">
            <a:avLst/>
          </a:prstGeom>
          <a:noFill/>
          <a:ln/>
        </p:spPr>
        <p:txBody>
          <a:bodyPr wrap="square" lIns="0" tIns="0" rIns="0" bIns="0" rtlCol="0" anchor="ctr"/>
          <a:lstStyle/>
          <a:p>
            <a:pPr indent="0" marL="0">
              <a:buNone/>
            </a:pPr>
            <a:r>
              <a:rPr lang="en-US" sz="1300" dirty="0">
                <a:solidFill>
                  <a:schemeClr val="tx1"/>
                </a:solidFill>
              </a:rPr>
              <a:t>Gated unit with GELU activation [20]</a:t>
            </a:r>
            <a:endParaRPr lang="en-US" sz="1300" dirty="0"/>
          </a:p>
        </p:txBody>
      </p:sp>
      <p:sp>
        <p:nvSpPr>
          <p:cNvPr id="13" name="Fact card 4"/>
          <p:cNvSpPr/>
          <p:nvPr/>
        </p:nvSpPr>
        <p:spPr>
          <a:xfrm>
            <a:off x="3840480" y="3209544"/>
            <a:ext cx="4846320" cy="621792"/>
          </a:xfrm>
          <a:prstGeom prst="rect">
            <a:avLst/>
          </a:prstGeom>
          <a:solidFill>
            <a:schemeClr val="bg2"/>
          </a:solidFill>
          <a:ln w="12700">
            <a:solidFill>
              <a:schemeClr val="bg2"/>
            </a:solidFill>
            <a:prstDash val="solid"/>
          </a:ln>
        </p:spPr>
      </p:sp>
      <p:sp>
        <p:nvSpPr>
          <p:cNvPr id="14" name="Text 11"/>
          <p:cNvSpPr txBox="1"/>
          <p:nvPr/>
        </p:nvSpPr>
        <p:spPr>
          <a:xfrm>
            <a:off x="3977640" y="3246120"/>
            <a:ext cx="4572000" cy="274320"/>
          </a:xfrm>
          <a:prstGeom prst="rect">
            <a:avLst/>
          </a:prstGeom>
          <a:noFill/>
          <a:ln/>
        </p:spPr>
        <p:txBody>
          <a:bodyPr wrap="square" lIns="0" tIns="0" rIns="0" bIns="0" rtlCol="0" anchor="ctr"/>
          <a:lstStyle/>
          <a:p>
            <a:pPr indent="0" marL="0">
              <a:buNone/>
            </a:pPr>
            <a:r>
              <a:rPr lang="en-US" sz="1500" b="1" dirty="0">
                <a:solidFill>
                  <a:schemeClr val="tx2"/>
                </a:solidFill>
              </a:rPr>
              <a:t>Alternating attention</a:t>
            </a:r>
            <a:endParaRPr lang="en-US" sz="1500" dirty="0"/>
          </a:p>
        </p:txBody>
      </p:sp>
      <p:sp>
        <p:nvSpPr>
          <p:cNvPr id="15" name="Text 12"/>
          <p:cNvSpPr txBox="1"/>
          <p:nvPr/>
        </p:nvSpPr>
        <p:spPr>
          <a:xfrm>
            <a:off x="3977640" y="3520440"/>
            <a:ext cx="4572000" cy="274320"/>
          </a:xfrm>
          <a:prstGeom prst="rect">
            <a:avLst/>
          </a:prstGeom>
          <a:noFill/>
          <a:ln/>
        </p:spPr>
        <p:txBody>
          <a:bodyPr wrap="square" lIns="0" tIns="0" rIns="0" bIns="0" rtlCol="0" anchor="ctr"/>
          <a:lstStyle/>
          <a:p>
            <a:pPr indent="0" marL="0">
              <a:buNone/>
            </a:pPr>
            <a:r>
              <a:rPr lang="en-US" sz="1300" dirty="0">
                <a:solidFill>
                  <a:schemeClr val="tx1"/>
                </a:solidFill>
              </a:rPr>
              <a:t>Mostly local windows, every third layer global</a:t>
            </a:r>
            <a:endParaRPr lang="en-US" sz="1300" dirty="0"/>
          </a:p>
        </p:txBody>
      </p:sp>
      <p:sp>
        <p:nvSpPr>
          <p:cNvPr id="16" name="Fact card 5"/>
          <p:cNvSpPr/>
          <p:nvPr/>
        </p:nvSpPr>
        <p:spPr>
          <a:xfrm>
            <a:off x="3840480" y="3913632"/>
            <a:ext cx="4846320" cy="621792"/>
          </a:xfrm>
          <a:prstGeom prst="rect">
            <a:avLst/>
          </a:prstGeom>
          <a:solidFill>
            <a:schemeClr val="bg2"/>
          </a:solidFill>
          <a:ln w="12700">
            <a:solidFill>
              <a:schemeClr val="bg2"/>
            </a:solidFill>
            <a:prstDash val="solid"/>
          </a:ln>
        </p:spPr>
      </p:sp>
      <p:sp>
        <p:nvSpPr>
          <p:cNvPr id="17" name="Text 14"/>
          <p:cNvSpPr txBox="1"/>
          <p:nvPr/>
        </p:nvSpPr>
        <p:spPr>
          <a:xfrm>
            <a:off x="3977640" y="3950208"/>
            <a:ext cx="4572000" cy="274320"/>
          </a:xfrm>
          <a:prstGeom prst="rect">
            <a:avLst/>
          </a:prstGeom>
          <a:noFill/>
          <a:ln/>
        </p:spPr>
        <p:txBody>
          <a:bodyPr wrap="square" lIns="0" tIns="0" rIns="0" bIns="0" rtlCol="0" anchor="ctr"/>
          <a:lstStyle/>
          <a:p>
            <a:pPr indent="0" marL="0">
              <a:buNone/>
            </a:pPr>
            <a:r>
              <a:rPr lang="en-US" sz="1500" b="1" dirty="0">
                <a:solidFill>
                  <a:schemeClr val="tx2"/>
                </a:solidFill>
              </a:rPr>
              <a:t>Built for efficiency</a:t>
            </a:r>
            <a:endParaRPr lang="en-US" sz="1500" dirty="0"/>
          </a:p>
        </p:txBody>
      </p:sp>
      <p:sp>
        <p:nvSpPr>
          <p:cNvPr id="18" name="Text 15"/>
          <p:cNvSpPr txBox="1"/>
          <p:nvPr/>
        </p:nvSpPr>
        <p:spPr>
          <a:xfrm>
            <a:off x="3977640" y="4224528"/>
            <a:ext cx="4572000" cy="274320"/>
          </a:xfrm>
          <a:prstGeom prst="rect">
            <a:avLst/>
          </a:prstGeom>
          <a:noFill/>
          <a:ln/>
        </p:spPr>
        <p:txBody>
          <a:bodyPr wrap="square" lIns="0" tIns="0" rIns="0" bIns="0" rtlCol="0" anchor="ctr"/>
          <a:lstStyle/>
          <a:p>
            <a:pPr indent="0" marL="0">
              <a:buNone/>
            </a:pPr>
            <a:r>
              <a:rPr lang="en-US" sz="1300" dirty="0">
                <a:solidFill>
                  <a:schemeClr val="tx1"/>
                </a:solidFill>
              </a:rPr>
              <a:t>FlashAttention-style kernels, up to 8,192 tokens [11]</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Proposed Architecture</a:t>
            </a:r>
            <a:endParaRPr lang="en-US" sz="3200" dirty="0"/>
          </a:p>
        </p:txBody>
      </p:sp>
      <p:sp>
        <p:nvSpPr>
          <p:cNvPr id="3" name="Diagram frame"/>
          <p:cNvSpPr/>
          <p:nvPr/>
        </p:nvSpPr>
        <p:spPr>
          <a:xfrm>
            <a:off x="457200" y="1097280"/>
            <a:ext cx="4754880" cy="3520440"/>
          </a:xfrm>
          <a:prstGeom prst="rect">
            <a:avLst/>
          </a:prstGeom>
          <a:solidFill>
            <a:schemeClr val="bg1"/>
          </a:solidFill>
          <a:ln w="12700">
            <a:solidFill>
              <a:schemeClr val="accent6"/>
            </a:solidFill>
            <a:prstDash val="solid"/>
          </a:ln>
        </p:spPr>
      </p:sp>
      <p:pic>
        <p:nvPicPr>
          <p:cNvPr id="4" name="Image 0" descr="Block diagram of ModernBERT with attention pooling">    </p:cNvPr>
          <p:cNvPicPr>
            <a:picLocks noChangeAspect="1"/>
          </p:cNvPicPr>
          <p:nvPr/>
        </p:nvPicPr>
        <p:blipFill>
          <a:blip r:embed="rId1"/>
          <a:stretch>
            <a:fillRect/>
          </a:stretch>
        </p:blipFill>
        <p:spPr>
          <a:xfrm>
            <a:off x="667512" y="1143000"/>
            <a:ext cx="4334256" cy="3429000"/>
          </a:xfrm>
          <a:prstGeom prst="rect">
            <a:avLst/>
          </a:prstGeom>
        </p:spPr>
      </p:pic>
      <p:sp>
        <p:nvSpPr>
          <p:cNvPr id="5" name="Text 2"/>
          <p:cNvSpPr txBox="1"/>
          <p:nvPr/>
        </p:nvSpPr>
        <p:spPr>
          <a:xfrm>
            <a:off x="5486400" y="1097280"/>
            <a:ext cx="3200400" cy="3200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Attention pooling</a:t>
            </a:r>
            <a:endParaRPr lang="en-US" sz="1800" dirty="0"/>
          </a:p>
        </p:txBody>
      </p:sp>
      <p:sp>
        <p:nvSpPr>
          <p:cNvPr id="6" name="Text 3"/>
          <p:cNvSpPr txBox="1"/>
          <p:nvPr/>
        </p:nvSpPr>
        <p:spPr>
          <a:xfrm>
            <a:off x="5486400" y="1463040"/>
            <a:ext cx="320040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Score each token, then weight it</a:t>
            </a:r>
            <a:endParaRPr lang="en-US" sz="1400" dirty="0"/>
          </a:p>
          <a:p>
            <a:pPr marL="342900" indent="-342900">
              <a:spcAft>
                <a:spcPts val="500"/>
              </a:spcAft>
              <a:buSzPct val="100000"/>
              <a:buChar char="•"/>
            </a:pPr>
            <a:r>
              <a:rPr lang="en-US" sz="1400" dirty="0">
                <a:solidFill>
                  <a:schemeClr val="tx1"/>
                </a:solidFill>
              </a:rPr>
              <a:t>Softmax ignores padding</a:t>
            </a:r>
            <a:endParaRPr lang="en-US" sz="1400" dirty="0"/>
          </a:p>
          <a:p>
            <a:pPr marL="342900" indent="-342900">
              <a:spcAft>
                <a:spcPts val="500"/>
              </a:spcAft>
              <a:buSzPct val="100000"/>
              <a:buChar char="•"/>
            </a:pPr>
            <a:r>
              <a:rPr lang="en-US" sz="1400" dirty="0">
                <a:solidFill>
                  <a:schemeClr val="tx1"/>
                </a:solidFill>
              </a:rPr>
              <a:t>[CLS] vector plus pooled vector gives 1,536 features</a:t>
            </a:r>
            <a:endParaRPr lang="en-US" sz="1400" dirty="0"/>
          </a:p>
          <a:p>
            <a:pPr marL="342900" indent="-342900">
              <a:spcAft>
                <a:spcPts val="500"/>
              </a:spcAft>
              <a:buSzPct val="100000"/>
              <a:buChar char="•"/>
            </a:pPr>
            <a:r>
              <a:rPr lang="en-US" sz="1400" dirty="0">
                <a:solidFill>
                  <a:schemeClr val="tx1"/>
                </a:solidFill>
              </a:rPr>
              <a:t>Two logits, no BiLSTM</a:t>
            </a:r>
            <a:endParaRPr lang="en-US" sz="1400" dirty="0"/>
          </a:p>
        </p:txBody>
      </p:sp>
      <p:sp>
        <p:nvSpPr>
          <p:cNvPr id="7" name="Equation panel"/>
          <p:cNvSpPr/>
          <p:nvPr/>
        </p:nvSpPr>
        <p:spPr>
          <a:xfrm>
            <a:off x="5486400" y="3337560"/>
            <a:ext cx="3200400" cy="1280160"/>
          </a:xfrm>
          <a:prstGeom prst="rect">
            <a:avLst/>
          </a:prstGeom>
          <a:solidFill>
            <a:schemeClr val="tx2"/>
          </a:solidFill>
          <a:ln w="12700">
            <a:solidFill>
              <a:schemeClr val="tx2"/>
            </a:solidFill>
            <a:prstDash val="solid"/>
          </a:ln>
        </p:spPr>
      </p:sp>
      <p:sp>
        <p:nvSpPr>
          <p:cNvPr id="8" name="Text 5"/>
          <p:cNvSpPr txBox="1"/>
          <p:nvPr/>
        </p:nvSpPr>
        <p:spPr>
          <a:xfrm>
            <a:off x="5623560" y="3383280"/>
            <a:ext cx="2926080" cy="1188720"/>
          </a:xfrm>
          <a:prstGeom prst="rect">
            <a:avLst/>
          </a:prstGeom>
          <a:noFill/>
          <a:ln/>
        </p:spPr>
        <p:txBody>
          <a:bodyPr wrap="square" lIns="0" tIns="0" rIns="0" bIns="0" rtlCol="0" anchor="ctr"/>
          <a:lstStyle/>
          <a:p>
            <a:pPr indent="0" marL="0">
              <a:spcAft>
                <a:spcPts val="200"/>
              </a:spcAft>
              <a:buNone/>
            </a:pPr>
            <a:r>
              <a:rPr lang="en-US" sz="1400" i="1" dirty="0">
                <a:solidFill>
                  <a:schemeClr val="bg1"/>
                </a:solidFill>
                <a:latin typeface="Cambria" pitchFamily="34" charset="0"/>
                <a:ea typeface="Cambria" pitchFamily="34" charset="-122"/>
                <a:cs typeface="Cambria" pitchFamily="34" charset="-120"/>
              </a:rPr>
              <a:t>e_i = wᵀ tanh(W_h h_i + b_h)</a:t>
            </a:r>
            <a:endParaRPr lang="en-US" sz="1400" dirty="0"/>
          </a:p>
          <a:p>
            <a:pPr indent="0" marL="0">
              <a:spcAft>
                <a:spcPts val="200"/>
              </a:spcAft>
              <a:buNone/>
            </a:pPr>
            <a:r>
              <a:rPr lang="en-US" sz="1400" i="1" dirty="0">
                <a:solidFill>
                  <a:schemeClr val="bg1"/>
                </a:solidFill>
                <a:latin typeface="Cambria" pitchFamily="34" charset="0"/>
                <a:ea typeface="Cambria" pitchFamily="34" charset="-122"/>
                <a:cs typeface="Cambria" pitchFamily="34" charset="-120"/>
              </a:rPr>
              <a:t>α_i = softmax(e_i)</a:t>
            </a:r>
            <a:endParaRPr lang="en-US" sz="1400" dirty="0"/>
          </a:p>
          <a:p>
            <a:pPr indent="0" marL="0">
              <a:spcAft>
                <a:spcPts val="200"/>
              </a:spcAft>
              <a:buNone/>
            </a:pPr>
            <a:r>
              <a:rPr lang="en-US" sz="1400" i="1" dirty="0">
                <a:solidFill>
                  <a:schemeClr val="bg1"/>
                </a:solidFill>
                <a:latin typeface="Cambria" pitchFamily="34" charset="0"/>
                <a:ea typeface="Cambria" pitchFamily="34" charset="-122"/>
                <a:cs typeface="Cambria" pitchFamily="34" charset="-120"/>
              </a:rPr>
              <a:t>h_att = Σ α_i h_i</a:t>
            </a:r>
            <a:endParaRPr lang="en-US" sz="1400" dirty="0"/>
          </a:p>
          <a:p>
            <a:pPr indent="0" marL="0">
              <a:spcAft>
                <a:spcPts val="200"/>
              </a:spcAft>
              <a:buNone/>
            </a:pPr>
            <a:r>
              <a:rPr lang="en-US" sz="1400" i="1" dirty="0">
                <a:solidFill>
                  <a:schemeClr val="bg1"/>
                </a:solidFill>
                <a:latin typeface="Cambria" pitchFamily="34" charset="0"/>
                <a:ea typeface="Cambria" pitchFamily="34" charset="-122"/>
                <a:cs typeface="Cambria" pitchFamily="34" charset="-120"/>
              </a:rPr>
              <a:t>h = [h_CLS ; h_att]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Training Pipeline</a:t>
            </a:r>
            <a:endParaRPr lang="en-US" sz="3200" dirty="0"/>
          </a:p>
        </p:txBody>
      </p:sp>
      <p:sp>
        <p:nvSpPr>
          <p:cNvPr id="3" name="Flowchart frame"/>
          <p:cNvSpPr/>
          <p:nvPr/>
        </p:nvSpPr>
        <p:spPr>
          <a:xfrm>
            <a:off x="457200" y="1097280"/>
            <a:ext cx="5303520" cy="3520440"/>
          </a:xfrm>
          <a:prstGeom prst="rect">
            <a:avLst/>
          </a:prstGeom>
          <a:solidFill>
            <a:schemeClr val="bg1"/>
          </a:solidFill>
          <a:ln w="12700">
            <a:solidFill>
              <a:schemeClr val="accent6"/>
            </a:solidFill>
            <a:prstDash val="solid"/>
          </a:ln>
        </p:spPr>
      </p:sp>
      <p:pic>
        <p:nvPicPr>
          <p:cNvPr id="4" name="Image 0" descr="Flowchart of data preparation, training, validation and testing">    </p:cNvPr>
          <p:cNvPicPr>
            <a:picLocks noChangeAspect="1"/>
          </p:cNvPicPr>
          <p:nvPr/>
        </p:nvPicPr>
        <p:blipFill>
          <a:blip r:embed="rId1"/>
          <a:stretch>
            <a:fillRect/>
          </a:stretch>
        </p:blipFill>
        <p:spPr>
          <a:xfrm>
            <a:off x="681228" y="1143000"/>
            <a:ext cx="4855464" cy="3429000"/>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0" y="1097280"/>
          <a:ext cx="2743200" cy="914400"/>
        </p:xfrm>
        <a:graphic>
          <a:graphicData uri="http://schemas.openxmlformats.org/drawingml/2006/table">
            <a:tbl>
              <a:tblPr/>
              <a:tblGrid>
                <a:gridCol w="1600200"/>
                <a:gridCol w="1143000"/>
              </a:tblGrid>
              <a:tr h="384048">
                <a:tc>
                  <a:txBody>
                    <a:bodyPr/>
                    <a:lstStyle/>
                    <a:p>
                      <a:pPr indent="0" marL="0">
                        <a:buNone/>
                      </a:pPr>
                      <a:r>
                        <a:rPr lang="en-US" sz="1200" b="1" dirty="0">
                          <a:solidFill>
                            <a:srgbClr val="FFFFFF"/>
                          </a:solidFill>
                        </a:rPr>
                        <a:t>Setting</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Value</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4213D"/>
                    </a:solidFill>
                  </a:tcPr>
                </a:tc>
              </a:tr>
              <a:tr h="384048">
                <a:tc>
                  <a:txBody>
                    <a:bodyPr/>
                    <a:lstStyle/>
                    <a:p>
                      <a:pPr indent="0" marL="0">
                        <a:buNone/>
                      </a:pPr>
                      <a:r>
                        <a:rPr lang="en-US" sz="1200" dirty="0">
                          <a:solidFill>
                            <a:srgbClr val="14213D"/>
                          </a:solidFill>
                        </a:rPr>
                        <a:t>Epochs</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1F5"/>
                    </a:solidFill>
                  </a:tcPr>
                </a:tc>
                <a:tc>
                  <a:txBody>
                    <a:bodyPr/>
                    <a:lstStyle/>
                    <a:p>
                      <a:pPr indent="0" marL="0">
                        <a:buNone/>
                      </a:pPr>
                      <a:r>
                        <a:rPr lang="en-US" sz="1200" b="1" dirty="0">
                          <a:solidFill>
                            <a:srgbClr val="14213D"/>
                          </a:solidFill>
                        </a:rPr>
                        <a:t>3</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1F5"/>
                    </a:solidFill>
                  </a:tcPr>
                </a:tc>
              </a:tr>
              <a:tr h="384048">
                <a:tc>
                  <a:txBody>
                    <a:bodyPr/>
                    <a:lstStyle/>
                    <a:p>
                      <a:pPr indent="0" marL="0">
                        <a:buNone/>
                      </a:pPr>
                      <a:r>
                        <a:rPr lang="en-US" sz="1200" dirty="0">
                          <a:solidFill>
                            <a:srgbClr val="14213D"/>
                          </a:solidFill>
                        </a:rPr>
                        <a:t>Max length</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b="1" dirty="0">
                          <a:solidFill>
                            <a:srgbClr val="14213D"/>
                          </a:solidFill>
                        </a:rPr>
                        <a:t>512 tokens</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4213D"/>
                          </a:solidFill>
                        </a:rPr>
                        <a:t>Encoder learning rate</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1F5"/>
                    </a:solidFill>
                  </a:tcPr>
                </a:tc>
                <a:tc>
                  <a:txBody>
                    <a:bodyPr/>
                    <a:lstStyle/>
                    <a:p>
                      <a:pPr indent="0" marL="0">
                        <a:buNone/>
                      </a:pPr>
                      <a:r>
                        <a:rPr lang="en-US" sz="1200" b="1" dirty="0">
                          <a:solidFill>
                            <a:srgbClr val="14213D"/>
                          </a:solidFill>
                        </a:rPr>
                        <a:t>3×10⁻⁵</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1F5"/>
                    </a:solidFill>
                  </a:tcPr>
                </a:tc>
              </a:tr>
              <a:tr h="384048">
                <a:tc>
                  <a:txBody>
                    <a:bodyPr/>
                    <a:lstStyle/>
                    <a:p>
                      <a:pPr indent="0" marL="0">
                        <a:buNone/>
                      </a:pPr>
                      <a:r>
                        <a:rPr lang="en-US" sz="1200" dirty="0">
                          <a:solidFill>
                            <a:srgbClr val="14213D"/>
                          </a:solidFill>
                        </a:rPr>
                        <a:t>New layers learning rate</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b="1" dirty="0">
                          <a:solidFill>
                            <a:srgbClr val="14213D"/>
                          </a:solidFill>
                        </a:rPr>
                        <a:t>2×10⁻⁴</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4213D"/>
                          </a:solidFill>
                        </a:rPr>
                        <a:t>Loss</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1F5"/>
                    </a:solidFill>
                  </a:tcPr>
                </a:tc>
                <a:tc>
                  <a:txBody>
                    <a:bodyPr/>
                    <a:lstStyle/>
                    <a:p>
                      <a:pPr indent="0" marL="0">
                        <a:buNone/>
                      </a:pPr>
                      <a:r>
                        <a:rPr lang="en-US" sz="1200" b="1" dirty="0">
                          <a:solidFill>
                            <a:srgbClr val="14213D"/>
                          </a:solidFill>
                        </a:rPr>
                        <a:t>Cross-entropy</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1F5"/>
                    </a:solidFill>
                  </a:tcPr>
                </a:tc>
              </a:tr>
              <a:tr h="384048">
                <a:tc>
                  <a:txBody>
                    <a:bodyPr/>
                    <a:lstStyle/>
                    <a:p>
                      <a:pPr indent="0" marL="0">
                        <a:buNone/>
                      </a:pPr>
                      <a:r>
                        <a:rPr lang="en-US" sz="1200" dirty="0">
                          <a:solidFill>
                            <a:srgbClr val="14213D"/>
                          </a:solidFill>
                        </a:rPr>
                        <a:t>Checkpoint</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b="1" dirty="0">
                          <a:solidFill>
                            <a:srgbClr val="14213D"/>
                          </a:solidFill>
                        </a:rPr>
                        <a:t>Best on validation</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4213D"/>
                          </a:solidFill>
                        </a:rPr>
                        <a:t>Hardware</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1F5"/>
                    </a:solidFill>
                  </a:tcPr>
                </a:tc>
                <a:tc>
                  <a:txBody>
                    <a:bodyPr/>
                    <a:lstStyle/>
                    <a:p>
                      <a:pPr indent="0" marL="0">
                        <a:buNone/>
                      </a:pPr>
                      <a:r>
                        <a:rPr lang="en-US" sz="1200" b="1" dirty="0">
                          <a:solidFill>
                            <a:srgbClr val="14213D"/>
                          </a:solidFill>
                        </a:rPr>
                        <a:t>Tesla T4, Colab</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1F5"/>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Tools and Technology</a:t>
            </a:r>
            <a:endParaRPr lang="en-US" sz="3200" dirty="0"/>
          </a:p>
        </p:txBody>
      </p:sp>
      <p:sp>
        <p:nvSpPr>
          <p:cNvPr id="3" name="Tool card 1"/>
          <p:cNvSpPr/>
          <p:nvPr/>
        </p:nvSpPr>
        <p:spPr>
          <a:xfrm>
            <a:off x="457200" y="1188720"/>
            <a:ext cx="2651760" cy="1600200"/>
          </a:xfrm>
          <a:prstGeom prst="rect">
            <a:avLst/>
          </a:prstGeom>
          <a:solidFill>
            <a:schemeClr val="bg2"/>
          </a:solidFill>
          <a:ln w="12700">
            <a:solidFill>
              <a:schemeClr val="bg2"/>
            </a:solidFill>
            <a:prstDash val="solid"/>
          </a:ln>
        </p:spPr>
      </p:sp>
      <p:sp>
        <p:nvSpPr>
          <p:cNvPr id="4" name="Tool icon circle 1"/>
          <p:cNvSpPr/>
          <p:nvPr/>
        </p:nvSpPr>
        <p:spPr>
          <a:xfrm>
            <a:off x="640080" y="1371600"/>
            <a:ext cx="548640" cy="548640"/>
          </a:xfrm>
          <a:prstGeom prst="ellipse">
            <a:avLst/>
          </a:prstGeom>
          <a:solidFill>
            <a:schemeClr val="tx2"/>
          </a:solidFill>
          <a:ln w="12700">
            <a:solidFill>
              <a:schemeClr val="tx2"/>
            </a:solidFill>
            <a:prstDash val="solid"/>
          </a:ln>
        </p:spPr>
      </p:sp>
      <p:pic>
        <p:nvPicPr>
          <p:cNvPr id="5" name="Image 0" descr="Python">    </p:cNvPr>
          <p:cNvPicPr>
            <a:picLocks noChangeAspect="1"/>
          </p:cNvPicPr>
          <p:nvPr/>
        </p:nvPicPr>
        <p:blipFill>
          <a:blip r:embed="rId1"/>
          <a:stretch>
            <a:fillRect/>
          </a:stretch>
        </p:blipFill>
        <p:spPr>
          <a:xfrm>
            <a:off x="786384" y="1517904"/>
            <a:ext cx="256032" cy="256032"/>
          </a:xfrm>
          <a:prstGeom prst="rect">
            <a:avLst/>
          </a:prstGeom>
        </p:spPr>
      </p:pic>
      <p:sp>
        <p:nvSpPr>
          <p:cNvPr id="6" name="Text 3"/>
          <p:cNvSpPr txBox="1"/>
          <p:nvPr/>
        </p:nvSpPr>
        <p:spPr>
          <a:xfrm>
            <a:off x="640080" y="2011680"/>
            <a:ext cx="2377440" cy="274320"/>
          </a:xfrm>
          <a:prstGeom prst="rect">
            <a:avLst/>
          </a:prstGeom>
          <a:noFill/>
          <a:ln/>
        </p:spPr>
        <p:txBody>
          <a:bodyPr wrap="square" lIns="0" tIns="0" rIns="0" bIns="0" rtlCol="0" anchor="ctr"/>
          <a:lstStyle/>
          <a:p>
            <a:pPr indent="0" marL="0">
              <a:buNone/>
            </a:pPr>
            <a:r>
              <a:rPr lang="en-US" sz="1500" b="1" dirty="0">
                <a:solidFill>
                  <a:schemeClr val="tx2"/>
                </a:solidFill>
              </a:rPr>
              <a:t>Python</a:t>
            </a:r>
            <a:endParaRPr lang="en-US" sz="1500" dirty="0"/>
          </a:p>
        </p:txBody>
      </p:sp>
      <p:sp>
        <p:nvSpPr>
          <p:cNvPr id="7" name="Text 4"/>
          <p:cNvSpPr txBox="1"/>
          <p:nvPr/>
        </p:nvSpPr>
        <p:spPr>
          <a:xfrm>
            <a:off x="640080" y="2286000"/>
            <a:ext cx="2331720" cy="457200"/>
          </a:xfrm>
          <a:prstGeom prst="rect">
            <a:avLst/>
          </a:prstGeom>
          <a:noFill/>
          <a:ln/>
        </p:spPr>
        <p:txBody>
          <a:bodyPr wrap="square" lIns="0" tIns="0" rIns="0" bIns="0" rtlCol="0" anchor="t"/>
          <a:lstStyle/>
          <a:p>
            <a:pPr indent="0" marL="0">
              <a:buNone/>
            </a:pPr>
            <a:r>
              <a:rPr lang="en-US" sz="1200" dirty="0">
                <a:solidFill>
                  <a:schemeClr val="tx1"/>
                </a:solidFill>
              </a:rPr>
              <a:t>One language for data, model and evaluation</a:t>
            </a:r>
            <a:endParaRPr lang="en-US" sz="1200" dirty="0"/>
          </a:p>
        </p:txBody>
      </p:sp>
      <p:sp>
        <p:nvSpPr>
          <p:cNvPr id="8" name="Tool card 2"/>
          <p:cNvSpPr/>
          <p:nvPr/>
        </p:nvSpPr>
        <p:spPr>
          <a:xfrm>
            <a:off x="3246120" y="1188720"/>
            <a:ext cx="2651760" cy="1600200"/>
          </a:xfrm>
          <a:prstGeom prst="rect">
            <a:avLst/>
          </a:prstGeom>
          <a:solidFill>
            <a:schemeClr val="bg2"/>
          </a:solidFill>
          <a:ln w="12700">
            <a:solidFill>
              <a:schemeClr val="bg2"/>
            </a:solidFill>
            <a:prstDash val="solid"/>
          </a:ln>
        </p:spPr>
      </p:sp>
      <p:sp>
        <p:nvSpPr>
          <p:cNvPr id="9" name="Tool icon circle 2"/>
          <p:cNvSpPr/>
          <p:nvPr/>
        </p:nvSpPr>
        <p:spPr>
          <a:xfrm>
            <a:off x="3429000" y="1371600"/>
            <a:ext cx="548640" cy="548640"/>
          </a:xfrm>
          <a:prstGeom prst="ellipse">
            <a:avLst/>
          </a:prstGeom>
          <a:solidFill>
            <a:schemeClr val="tx2"/>
          </a:solidFill>
          <a:ln w="12700">
            <a:solidFill>
              <a:schemeClr val="tx2"/>
            </a:solidFill>
            <a:prstDash val="solid"/>
          </a:ln>
        </p:spPr>
      </p:sp>
      <p:pic>
        <p:nvPicPr>
          <p:cNvPr id="10" name="Image 1" descr="PyTorch">    </p:cNvPr>
          <p:cNvPicPr>
            <a:picLocks noChangeAspect="1"/>
          </p:cNvPicPr>
          <p:nvPr/>
        </p:nvPicPr>
        <p:blipFill>
          <a:blip r:embed="rId2"/>
          <a:stretch>
            <a:fillRect/>
          </a:stretch>
        </p:blipFill>
        <p:spPr>
          <a:xfrm>
            <a:off x="3575304" y="1517904"/>
            <a:ext cx="256032" cy="256032"/>
          </a:xfrm>
          <a:prstGeom prst="rect">
            <a:avLst/>
          </a:prstGeom>
        </p:spPr>
      </p:pic>
      <p:sp>
        <p:nvSpPr>
          <p:cNvPr id="11" name="Text 7"/>
          <p:cNvSpPr txBox="1"/>
          <p:nvPr/>
        </p:nvSpPr>
        <p:spPr>
          <a:xfrm>
            <a:off x="3429000" y="2011680"/>
            <a:ext cx="2377440" cy="274320"/>
          </a:xfrm>
          <a:prstGeom prst="rect">
            <a:avLst/>
          </a:prstGeom>
          <a:noFill/>
          <a:ln/>
        </p:spPr>
        <p:txBody>
          <a:bodyPr wrap="square" lIns="0" tIns="0" rIns="0" bIns="0" rtlCol="0" anchor="ctr"/>
          <a:lstStyle/>
          <a:p>
            <a:pPr indent="0" marL="0">
              <a:buNone/>
            </a:pPr>
            <a:r>
              <a:rPr lang="en-US" sz="1500" b="1" dirty="0">
                <a:solidFill>
                  <a:schemeClr val="tx2"/>
                </a:solidFill>
              </a:rPr>
              <a:t>PyTorch</a:t>
            </a:r>
            <a:endParaRPr lang="en-US" sz="1500" dirty="0"/>
          </a:p>
        </p:txBody>
      </p:sp>
      <p:sp>
        <p:nvSpPr>
          <p:cNvPr id="12" name="Text 8"/>
          <p:cNvSpPr txBox="1"/>
          <p:nvPr/>
        </p:nvSpPr>
        <p:spPr>
          <a:xfrm>
            <a:off x="3429000" y="2286000"/>
            <a:ext cx="2331720" cy="457200"/>
          </a:xfrm>
          <a:prstGeom prst="rect">
            <a:avLst/>
          </a:prstGeom>
          <a:noFill/>
          <a:ln/>
        </p:spPr>
        <p:txBody>
          <a:bodyPr wrap="square" lIns="0" tIns="0" rIns="0" bIns="0" rtlCol="0" anchor="t"/>
          <a:lstStyle/>
          <a:p>
            <a:pPr indent="0" marL="0">
              <a:buNone/>
            </a:pPr>
            <a:r>
              <a:rPr lang="en-US" sz="1200" dirty="0">
                <a:solidFill>
                  <a:schemeClr val="tx1"/>
                </a:solidFill>
              </a:rPr>
              <a:t>Attention-pooling layer, loss, backpropagation [23]</a:t>
            </a:r>
            <a:endParaRPr lang="en-US" sz="1200" dirty="0"/>
          </a:p>
        </p:txBody>
      </p:sp>
      <p:sp>
        <p:nvSpPr>
          <p:cNvPr id="13" name="Tool card 3"/>
          <p:cNvSpPr/>
          <p:nvPr/>
        </p:nvSpPr>
        <p:spPr>
          <a:xfrm>
            <a:off x="6035040" y="1188720"/>
            <a:ext cx="2651760" cy="1600200"/>
          </a:xfrm>
          <a:prstGeom prst="rect">
            <a:avLst/>
          </a:prstGeom>
          <a:solidFill>
            <a:schemeClr val="bg2"/>
          </a:solidFill>
          <a:ln w="12700">
            <a:solidFill>
              <a:schemeClr val="bg2"/>
            </a:solidFill>
            <a:prstDash val="solid"/>
          </a:ln>
        </p:spPr>
      </p:sp>
      <p:sp>
        <p:nvSpPr>
          <p:cNvPr id="14" name="Tool icon circle 3"/>
          <p:cNvSpPr/>
          <p:nvPr/>
        </p:nvSpPr>
        <p:spPr>
          <a:xfrm>
            <a:off x="6217920" y="1371600"/>
            <a:ext cx="548640" cy="548640"/>
          </a:xfrm>
          <a:prstGeom prst="ellipse">
            <a:avLst/>
          </a:prstGeom>
          <a:solidFill>
            <a:schemeClr val="tx2"/>
          </a:solidFill>
          <a:ln w="12700">
            <a:solidFill>
              <a:schemeClr val="tx2"/>
            </a:solidFill>
            <a:prstDash val="solid"/>
          </a:ln>
        </p:spPr>
      </p:sp>
      <p:pic>
        <p:nvPicPr>
          <p:cNvPr id="15" name="Image 2" descr="Hugging Face">    </p:cNvPr>
          <p:cNvPicPr>
            <a:picLocks noChangeAspect="1"/>
          </p:cNvPicPr>
          <p:nvPr/>
        </p:nvPicPr>
        <p:blipFill>
          <a:blip r:embed="rId3"/>
          <a:stretch>
            <a:fillRect/>
          </a:stretch>
        </p:blipFill>
        <p:spPr>
          <a:xfrm>
            <a:off x="6364224" y="1517904"/>
            <a:ext cx="256032" cy="256032"/>
          </a:xfrm>
          <a:prstGeom prst="rect">
            <a:avLst/>
          </a:prstGeom>
        </p:spPr>
      </p:pic>
      <p:sp>
        <p:nvSpPr>
          <p:cNvPr id="16" name="Text 11"/>
          <p:cNvSpPr txBox="1"/>
          <p:nvPr/>
        </p:nvSpPr>
        <p:spPr>
          <a:xfrm>
            <a:off x="6217920" y="2011680"/>
            <a:ext cx="2377440" cy="274320"/>
          </a:xfrm>
          <a:prstGeom prst="rect">
            <a:avLst/>
          </a:prstGeom>
          <a:noFill/>
          <a:ln/>
        </p:spPr>
        <p:txBody>
          <a:bodyPr wrap="square" lIns="0" tIns="0" rIns="0" bIns="0" rtlCol="0" anchor="ctr"/>
          <a:lstStyle/>
          <a:p>
            <a:pPr indent="0" marL="0">
              <a:buNone/>
            </a:pPr>
            <a:r>
              <a:rPr lang="en-US" sz="1500" b="1" dirty="0">
                <a:solidFill>
                  <a:schemeClr val="tx2"/>
                </a:solidFill>
              </a:rPr>
              <a:t>Hugging Face</a:t>
            </a:r>
            <a:endParaRPr lang="en-US" sz="1500" dirty="0"/>
          </a:p>
        </p:txBody>
      </p:sp>
      <p:sp>
        <p:nvSpPr>
          <p:cNvPr id="17" name="Text 12"/>
          <p:cNvSpPr txBox="1"/>
          <p:nvPr/>
        </p:nvSpPr>
        <p:spPr>
          <a:xfrm>
            <a:off x="6217920" y="2286000"/>
            <a:ext cx="2331720" cy="457200"/>
          </a:xfrm>
          <a:prstGeom prst="rect">
            <a:avLst/>
          </a:prstGeom>
          <a:noFill/>
          <a:ln/>
        </p:spPr>
        <p:txBody>
          <a:bodyPr wrap="square" lIns="0" tIns="0" rIns="0" bIns="0" rtlCol="0" anchor="t"/>
          <a:lstStyle/>
          <a:p>
            <a:pPr indent="0" marL="0">
              <a:buNone/>
            </a:pPr>
            <a:r>
              <a:rPr lang="en-US" sz="1200" dirty="0">
                <a:solidFill>
                  <a:schemeClr val="tx1"/>
                </a:solidFill>
              </a:rPr>
              <a:t>Pretrained ModernBERT-base and tokenizer [24]</a:t>
            </a:r>
            <a:endParaRPr lang="en-US" sz="1200" dirty="0"/>
          </a:p>
        </p:txBody>
      </p:sp>
      <p:sp>
        <p:nvSpPr>
          <p:cNvPr id="18" name="Tool card 4"/>
          <p:cNvSpPr/>
          <p:nvPr/>
        </p:nvSpPr>
        <p:spPr>
          <a:xfrm>
            <a:off x="457200" y="2926080"/>
            <a:ext cx="2651760" cy="1600200"/>
          </a:xfrm>
          <a:prstGeom prst="rect">
            <a:avLst/>
          </a:prstGeom>
          <a:solidFill>
            <a:schemeClr val="bg2"/>
          </a:solidFill>
          <a:ln w="12700">
            <a:solidFill>
              <a:schemeClr val="bg2"/>
            </a:solidFill>
            <a:prstDash val="solid"/>
          </a:ln>
        </p:spPr>
      </p:sp>
      <p:sp>
        <p:nvSpPr>
          <p:cNvPr id="19" name="Tool icon circle 4"/>
          <p:cNvSpPr/>
          <p:nvPr/>
        </p:nvSpPr>
        <p:spPr>
          <a:xfrm>
            <a:off x="640080" y="3108960"/>
            <a:ext cx="548640" cy="548640"/>
          </a:xfrm>
          <a:prstGeom prst="ellipse">
            <a:avLst/>
          </a:prstGeom>
          <a:solidFill>
            <a:schemeClr val="tx2"/>
          </a:solidFill>
          <a:ln w="12700">
            <a:solidFill>
              <a:schemeClr val="tx2"/>
            </a:solidFill>
            <a:prstDash val="solid"/>
          </a:ln>
        </p:spPr>
      </p:sp>
      <p:pic>
        <p:nvPicPr>
          <p:cNvPr id="20" name="Image 3" descr="Google Colab">    </p:cNvPr>
          <p:cNvPicPr>
            <a:picLocks noChangeAspect="1"/>
          </p:cNvPicPr>
          <p:nvPr/>
        </p:nvPicPr>
        <p:blipFill>
          <a:blip r:embed="rId4"/>
          <a:stretch>
            <a:fillRect/>
          </a:stretch>
        </p:blipFill>
        <p:spPr>
          <a:xfrm>
            <a:off x="786384" y="3255264"/>
            <a:ext cx="256032" cy="256032"/>
          </a:xfrm>
          <a:prstGeom prst="rect">
            <a:avLst/>
          </a:prstGeom>
        </p:spPr>
      </p:pic>
      <p:sp>
        <p:nvSpPr>
          <p:cNvPr id="21" name="Text 15"/>
          <p:cNvSpPr txBox="1"/>
          <p:nvPr/>
        </p:nvSpPr>
        <p:spPr>
          <a:xfrm>
            <a:off x="640080" y="3749040"/>
            <a:ext cx="2377440" cy="274320"/>
          </a:xfrm>
          <a:prstGeom prst="rect">
            <a:avLst/>
          </a:prstGeom>
          <a:noFill/>
          <a:ln/>
        </p:spPr>
        <p:txBody>
          <a:bodyPr wrap="square" lIns="0" tIns="0" rIns="0" bIns="0" rtlCol="0" anchor="ctr"/>
          <a:lstStyle/>
          <a:p>
            <a:pPr indent="0" marL="0">
              <a:buNone/>
            </a:pPr>
            <a:r>
              <a:rPr lang="en-US" sz="1500" b="1" dirty="0">
                <a:solidFill>
                  <a:schemeClr val="tx2"/>
                </a:solidFill>
              </a:rPr>
              <a:t>Google Colab</a:t>
            </a:r>
            <a:endParaRPr lang="en-US" sz="1500" dirty="0"/>
          </a:p>
        </p:txBody>
      </p:sp>
      <p:sp>
        <p:nvSpPr>
          <p:cNvPr id="22" name="Text 16"/>
          <p:cNvSpPr txBox="1"/>
          <p:nvPr/>
        </p:nvSpPr>
        <p:spPr>
          <a:xfrm>
            <a:off x="640080" y="4023360"/>
            <a:ext cx="2331720" cy="457200"/>
          </a:xfrm>
          <a:prstGeom prst="rect">
            <a:avLst/>
          </a:prstGeom>
          <a:noFill/>
          <a:ln/>
        </p:spPr>
        <p:txBody>
          <a:bodyPr wrap="square" lIns="0" tIns="0" rIns="0" bIns="0" rtlCol="0" anchor="t"/>
          <a:lstStyle/>
          <a:p>
            <a:pPr indent="0" marL="0">
              <a:buNone/>
            </a:pPr>
            <a:r>
              <a:rPr lang="en-US" sz="1200" dirty="0">
                <a:solidFill>
                  <a:schemeClr val="tx1"/>
                </a:solidFill>
              </a:rPr>
              <a:t>Notebook with Tesla T4 GPU, Drive for checkpoints</a:t>
            </a:r>
            <a:endParaRPr lang="en-US" sz="1200" dirty="0"/>
          </a:p>
        </p:txBody>
      </p:sp>
      <p:sp>
        <p:nvSpPr>
          <p:cNvPr id="23" name="Tool card 5"/>
          <p:cNvSpPr/>
          <p:nvPr/>
        </p:nvSpPr>
        <p:spPr>
          <a:xfrm>
            <a:off x="3246120" y="2926080"/>
            <a:ext cx="2651760" cy="1600200"/>
          </a:xfrm>
          <a:prstGeom prst="rect">
            <a:avLst/>
          </a:prstGeom>
          <a:solidFill>
            <a:schemeClr val="bg2"/>
          </a:solidFill>
          <a:ln w="12700">
            <a:solidFill>
              <a:schemeClr val="bg2"/>
            </a:solidFill>
            <a:prstDash val="solid"/>
          </a:ln>
        </p:spPr>
      </p:sp>
      <p:sp>
        <p:nvSpPr>
          <p:cNvPr id="24" name="Tool icon circle 5"/>
          <p:cNvSpPr/>
          <p:nvPr/>
        </p:nvSpPr>
        <p:spPr>
          <a:xfrm>
            <a:off x="3429000" y="3108960"/>
            <a:ext cx="548640" cy="548640"/>
          </a:xfrm>
          <a:prstGeom prst="ellipse">
            <a:avLst/>
          </a:prstGeom>
          <a:solidFill>
            <a:schemeClr val="tx2"/>
          </a:solidFill>
          <a:ln w="12700">
            <a:solidFill>
              <a:schemeClr val="tx2"/>
            </a:solidFill>
            <a:prstDash val="solid"/>
          </a:ln>
        </p:spPr>
      </p:sp>
      <p:pic>
        <p:nvPicPr>
          <p:cNvPr id="25" name="Image 4" descr="Pandas, NumPy">    </p:cNvPr>
          <p:cNvPicPr>
            <a:picLocks noChangeAspect="1"/>
          </p:cNvPicPr>
          <p:nvPr/>
        </p:nvPicPr>
        <p:blipFill>
          <a:blip r:embed="rId5"/>
          <a:stretch>
            <a:fillRect/>
          </a:stretch>
        </p:blipFill>
        <p:spPr>
          <a:xfrm>
            <a:off x="3575304" y="3255264"/>
            <a:ext cx="256032" cy="256032"/>
          </a:xfrm>
          <a:prstGeom prst="rect">
            <a:avLst/>
          </a:prstGeom>
        </p:spPr>
      </p:pic>
      <p:sp>
        <p:nvSpPr>
          <p:cNvPr id="26" name="Text 19"/>
          <p:cNvSpPr txBox="1"/>
          <p:nvPr/>
        </p:nvSpPr>
        <p:spPr>
          <a:xfrm>
            <a:off x="3429000" y="3749040"/>
            <a:ext cx="2377440" cy="274320"/>
          </a:xfrm>
          <a:prstGeom prst="rect">
            <a:avLst/>
          </a:prstGeom>
          <a:noFill/>
          <a:ln/>
        </p:spPr>
        <p:txBody>
          <a:bodyPr wrap="square" lIns="0" tIns="0" rIns="0" bIns="0" rtlCol="0" anchor="ctr"/>
          <a:lstStyle/>
          <a:p>
            <a:pPr indent="0" marL="0">
              <a:buNone/>
            </a:pPr>
            <a:r>
              <a:rPr lang="en-US" sz="1500" b="1" dirty="0">
                <a:solidFill>
                  <a:schemeClr val="tx2"/>
                </a:solidFill>
              </a:rPr>
              <a:t>Pandas, NumPy</a:t>
            </a:r>
            <a:endParaRPr lang="en-US" sz="1500" dirty="0"/>
          </a:p>
        </p:txBody>
      </p:sp>
      <p:sp>
        <p:nvSpPr>
          <p:cNvPr id="27" name="Text 20"/>
          <p:cNvSpPr txBox="1"/>
          <p:nvPr/>
        </p:nvSpPr>
        <p:spPr>
          <a:xfrm>
            <a:off x="3429000" y="4023360"/>
            <a:ext cx="2331720" cy="457200"/>
          </a:xfrm>
          <a:prstGeom prst="rect">
            <a:avLst/>
          </a:prstGeom>
          <a:noFill/>
          <a:ln/>
        </p:spPr>
        <p:txBody>
          <a:bodyPr wrap="square" lIns="0" tIns="0" rIns="0" bIns="0" rtlCol="0" anchor="t"/>
          <a:lstStyle/>
          <a:p>
            <a:pPr indent="0" marL="0">
              <a:buNone/>
            </a:pPr>
            <a:r>
              <a:rPr lang="en-US" sz="1200" dirty="0">
                <a:solidFill>
                  <a:schemeClr val="tx1"/>
                </a:solidFill>
              </a:rPr>
              <a:t>Loading, duplicate removal, arrays [25], [26]</a:t>
            </a:r>
            <a:endParaRPr lang="en-US" sz="1200" dirty="0"/>
          </a:p>
        </p:txBody>
      </p:sp>
      <p:sp>
        <p:nvSpPr>
          <p:cNvPr id="28" name="Tool card 6"/>
          <p:cNvSpPr/>
          <p:nvPr/>
        </p:nvSpPr>
        <p:spPr>
          <a:xfrm>
            <a:off x="6035040" y="2926080"/>
            <a:ext cx="2651760" cy="1600200"/>
          </a:xfrm>
          <a:prstGeom prst="rect">
            <a:avLst/>
          </a:prstGeom>
          <a:solidFill>
            <a:schemeClr val="bg2"/>
          </a:solidFill>
          <a:ln w="12700">
            <a:solidFill>
              <a:schemeClr val="bg2"/>
            </a:solidFill>
            <a:prstDash val="solid"/>
          </a:ln>
        </p:spPr>
      </p:sp>
      <p:sp>
        <p:nvSpPr>
          <p:cNvPr id="29" name="Tool icon circle 6"/>
          <p:cNvSpPr/>
          <p:nvPr/>
        </p:nvSpPr>
        <p:spPr>
          <a:xfrm>
            <a:off x="6217920" y="3108960"/>
            <a:ext cx="548640" cy="548640"/>
          </a:xfrm>
          <a:prstGeom prst="ellipse">
            <a:avLst/>
          </a:prstGeom>
          <a:solidFill>
            <a:schemeClr val="tx2"/>
          </a:solidFill>
          <a:ln w="12700">
            <a:solidFill>
              <a:schemeClr val="tx2"/>
            </a:solidFill>
            <a:prstDash val="solid"/>
          </a:ln>
        </p:spPr>
      </p:sp>
      <p:pic>
        <p:nvPicPr>
          <p:cNvPr id="30" name="Image 5" descr="Scikit-learn, Matplotlib">    </p:cNvPr>
          <p:cNvPicPr>
            <a:picLocks noChangeAspect="1"/>
          </p:cNvPicPr>
          <p:nvPr/>
        </p:nvPicPr>
        <p:blipFill>
          <a:blip r:embed="rId6"/>
          <a:stretch>
            <a:fillRect/>
          </a:stretch>
        </p:blipFill>
        <p:spPr>
          <a:xfrm>
            <a:off x="6364224" y="3255264"/>
            <a:ext cx="256032" cy="256032"/>
          </a:xfrm>
          <a:prstGeom prst="rect">
            <a:avLst/>
          </a:prstGeom>
        </p:spPr>
      </p:pic>
      <p:sp>
        <p:nvSpPr>
          <p:cNvPr id="31" name="Text 23"/>
          <p:cNvSpPr txBox="1"/>
          <p:nvPr/>
        </p:nvSpPr>
        <p:spPr>
          <a:xfrm>
            <a:off x="6217920" y="3749040"/>
            <a:ext cx="2377440" cy="274320"/>
          </a:xfrm>
          <a:prstGeom prst="rect">
            <a:avLst/>
          </a:prstGeom>
          <a:noFill/>
          <a:ln/>
        </p:spPr>
        <p:txBody>
          <a:bodyPr wrap="square" lIns="0" tIns="0" rIns="0" bIns="0" rtlCol="0" anchor="ctr"/>
          <a:lstStyle/>
          <a:p>
            <a:pPr indent="0" marL="0">
              <a:buNone/>
            </a:pPr>
            <a:r>
              <a:rPr lang="en-US" sz="1500" b="1" dirty="0">
                <a:solidFill>
                  <a:schemeClr val="tx2"/>
                </a:solidFill>
              </a:rPr>
              <a:t>Scikit-learn, Matplotlib</a:t>
            </a:r>
            <a:endParaRPr lang="en-US" sz="1500" dirty="0"/>
          </a:p>
        </p:txBody>
      </p:sp>
      <p:sp>
        <p:nvSpPr>
          <p:cNvPr id="32" name="Text 24"/>
          <p:cNvSpPr txBox="1"/>
          <p:nvPr/>
        </p:nvSpPr>
        <p:spPr>
          <a:xfrm>
            <a:off x="6217920" y="4023360"/>
            <a:ext cx="2331720" cy="457200"/>
          </a:xfrm>
          <a:prstGeom prst="rect">
            <a:avLst/>
          </a:prstGeom>
          <a:noFill/>
          <a:ln/>
        </p:spPr>
        <p:txBody>
          <a:bodyPr wrap="square" lIns="0" tIns="0" rIns="0" bIns="0" rtlCol="0" anchor="t"/>
          <a:lstStyle/>
          <a:p>
            <a:pPr indent="0" marL="0">
              <a:buNone/>
            </a:pPr>
            <a:r>
              <a:rPr lang="en-US" sz="1200" dirty="0">
                <a:solidFill>
                  <a:schemeClr val="tx1"/>
                </a:solidFill>
              </a:rPr>
              <a:t>Splits, metrics, confusion matrix, plots [22], [27]</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Results on the IMDb Test Set</a:t>
            </a:r>
            <a:endParaRPr lang="en-US" sz="3200" dirty="0"/>
          </a:p>
        </p:txBody>
      </p:sp>
      <p:sp>
        <p:nvSpPr>
          <p:cNvPr id="3" name="Stat card 1"/>
          <p:cNvSpPr/>
          <p:nvPr/>
        </p:nvSpPr>
        <p:spPr>
          <a:xfrm>
            <a:off x="457200" y="1143000"/>
            <a:ext cx="2834640" cy="1005840"/>
          </a:xfrm>
          <a:prstGeom prst="rect">
            <a:avLst/>
          </a:prstGeom>
          <a:solidFill>
            <a:schemeClr val="tx2"/>
          </a:solidFill>
          <a:ln w="12700">
            <a:solidFill>
              <a:schemeClr val="tx2"/>
            </a:solidFill>
            <a:prstDash val="solid"/>
          </a:ln>
        </p:spPr>
      </p:sp>
      <p:sp>
        <p:nvSpPr>
          <p:cNvPr id="4" name="Text 2"/>
          <p:cNvSpPr txBox="1"/>
          <p:nvPr/>
        </p:nvSpPr>
        <p:spPr>
          <a:xfrm>
            <a:off x="548640" y="1188720"/>
            <a:ext cx="2651760" cy="59436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95.93%</a:t>
            </a:r>
            <a:endParaRPr lang="en-US" sz="3600" dirty="0"/>
          </a:p>
        </p:txBody>
      </p:sp>
      <p:sp>
        <p:nvSpPr>
          <p:cNvPr id="5" name="Text 3"/>
          <p:cNvSpPr txBox="1"/>
          <p:nvPr/>
        </p:nvSpPr>
        <p:spPr>
          <a:xfrm>
            <a:off x="548640" y="1801368"/>
            <a:ext cx="2651760" cy="274320"/>
          </a:xfrm>
          <a:prstGeom prst="rect">
            <a:avLst/>
          </a:prstGeom>
          <a:noFill/>
          <a:ln/>
        </p:spPr>
        <p:txBody>
          <a:bodyPr wrap="square" lIns="0" tIns="0" rIns="0" bIns="0" rtlCol="0" anchor="ctr"/>
          <a:lstStyle/>
          <a:p>
            <a:pPr algn="ctr" indent="0" marL="0">
              <a:buNone/>
            </a:pPr>
            <a:r>
              <a:rPr lang="en-US" sz="1400" dirty="0">
                <a:solidFill>
                  <a:schemeClr val="bg1"/>
                </a:solidFill>
              </a:rPr>
              <a:t>Test accuracy</a:t>
            </a:r>
            <a:endParaRPr lang="en-US" sz="1400" dirty="0"/>
          </a:p>
        </p:txBody>
      </p:sp>
      <p:sp>
        <p:nvSpPr>
          <p:cNvPr id="6" name="Stat card 2"/>
          <p:cNvSpPr/>
          <p:nvPr/>
        </p:nvSpPr>
        <p:spPr>
          <a:xfrm>
            <a:off x="457200" y="2286000"/>
            <a:ext cx="2834640" cy="1005840"/>
          </a:xfrm>
          <a:prstGeom prst="rect">
            <a:avLst/>
          </a:prstGeom>
          <a:solidFill>
            <a:schemeClr val="bg2"/>
          </a:solidFill>
          <a:ln w="12700">
            <a:solidFill>
              <a:schemeClr val="bg2"/>
            </a:solidFill>
            <a:prstDash val="solid"/>
          </a:ln>
        </p:spPr>
      </p:sp>
      <p:sp>
        <p:nvSpPr>
          <p:cNvPr id="7" name="Text 5"/>
          <p:cNvSpPr txBox="1"/>
          <p:nvPr/>
        </p:nvSpPr>
        <p:spPr>
          <a:xfrm>
            <a:off x="548640" y="2331720"/>
            <a:ext cx="2651760" cy="594360"/>
          </a:xfrm>
          <a:prstGeom prst="rect">
            <a:avLst/>
          </a:prstGeom>
          <a:noFill/>
          <a:ln/>
        </p:spPr>
        <p:txBody>
          <a:bodyPr wrap="square" lIns="0" tIns="0" rIns="0" bIns="0" rtlCol="0" anchor="ctr"/>
          <a:lstStyle/>
          <a:p>
            <a:pPr algn="ctr" indent="0" marL="0">
              <a:buNone/>
            </a:pPr>
            <a:r>
              <a:rPr lang="en-US" sz="3600" b="1" dirty="0">
                <a:solidFill>
                  <a:schemeClr val="tx2"/>
                </a:solidFill>
                <a:latin typeface="Cambria" pitchFamily="34" charset="0"/>
                <a:ea typeface="Cambria" pitchFamily="34" charset="-122"/>
                <a:cs typeface="Cambria" pitchFamily="34" charset="-120"/>
              </a:rPr>
              <a:t>95.93%</a:t>
            </a:r>
            <a:endParaRPr lang="en-US" sz="3600" dirty="0"/>
          </a:p>
        </p:txBody>
      </p:sp>
      <p:sp>
        <p:nvSpPr>
          <p:cNvPr id="8" name="Text 6"/>
          <p:cNvSpPr txBox="1"/>
          <p:nvPr/>
        </p:nvSpPr>
        <p:spPr>
          <a:xfrm>
            <a:off x="548640" y="2944368"/>
            <a:ext cx="2651760" cy="274320"/>
          </a:xfrm>
          <a:prstGeom prst="rect">
            <a:avLst/>
          </a:prstGeom>
          <a:noFill/>
          <a:ln/>
        </p:spPr>
        <p:txBody>
          <a:bodyPr wrap="square" lIns="0" tIns="0" rIns="0" bIns="0" rtlCol="0" anchor="ctr"/>
          <a:lstStyle/>
          <a:p>
            <a:pPr algn="ctr" indent="0" marL="0">
              <a:buNone/>
            </a:pPr>
            <a:r>
              <a:rPr lang="en-US" sz="1400" dirty="0">
                <a:solidFill>
                  <a:schemeClr val="tx1"/>
                </a:solidFill>
              </a:rPr>
              <a:t>Weighted F1-score</a:t>
            </a:r>
            <a:endParaRPr lang="en-US" sz="1400" dirty="0"/>
          </a:p>
        </p:txBody>
      </p:sp>
      <p:sp>
        <p:nvSpPr>
          <p:cNvPr id="9" name="Stat card 3"/>
          <p:cNvSpPr/>
          <p:nvPr/>
        </p:nvSpPr>
        <p:spPr>
          <a:xfrm>
            <a:off x="457200" y="3429000"/>
            <a:ext cx="2834640" cy="1005840"/>
          </a:xfrm>
          <a:prstGeom prst="rect">
            <a:avLst/>
          </a:prstGeom>
          <a:solidFill>
            <a:schemeClr val="bg2"/>
          </a:solidFill>
          <a:ln w="12700">
            <a:solidFill>
              <a:schemeClr val="bg2"/>
            </a:solidFill>
            <a:prstDash val="solid"/>
          </a:ln>
        </p:spPr>
      </p:sp>
      <p:sp>
        <p:nvSpPr>
          <p:cNvPr id="10" name="Text 8"/>
          <p:cNvSpPr txBox="1"/>
          <p:nvPr/>
        </p:nvSpPr>
        <p:spPr>
          <a:xfrm>
            <a:off x="548640" y="3474720"/>
            <a:ext cx="2651760" cy="594360"/>
          </a:xfrm>
          <a:prstGeom prst="rect">
            <a:avLst/>
          </a:prstGeom>
          <a:noFill/>
          <a:ln/>
        </p:spPr>
        <p:txBody>
          <a:bodyPr wrap="square" lIns="0" tIns="0" rIns="0" bIns="0" rtlCol="0" anchor="ctr"/>
          <a:lstStyle/>
          <a:p>
            <a:pPr algn="ctr" indent="0" marL="0">
              <a:buNone/>
            </a:pPr>
            <a:r>
              <a:rPr lang="en-US" sz="3600" b="1" dirty="0">
                <a:solidFill>
                  <a:schemeClr val="tx2"/>
                </a:solidFill>
                <a:latin typeface="Cambria" pitchFamily="34" charset="0"/>
                <a:ea typeface="Cambria" pitchFamily="34" charset="-122"/>
                <a:cs typeface="Cambria" pitchFamily="34" charset="-120"/>
              </a:rPr>
              <a:t>96.07%</a:t>
            </a:r>
            <a:endParaRPr lang="en-US" sz="3600" dirty="0"/>
          </a:p>
        </p:txBody>
      </p:sp>
      <p:sp>
        <p:nvSpPr>
          <p:cNvPr id="11" name="Text 9"/>
          <p:cNvSpPr txBox="1"/>
          <p:nvPr/>
        </p:nvSpPr>
        <p:spPr>
          <a:xfrm>
            <a:off x="548640" y="4087368"/>
            <a:ext cx="2651760" cy="274320"/>
          </a:xfrm>
          <a:prstGeom prst="rect">
            <a:avLst/>
          </a:prstGeom>
          <a:noFill/>
          <a:ln/>
        </p:spPr>
        <p:txBody>
          <a:bodyPr wrap="square" lIns="0" tIns="0" rIns="0" bIns="0" rtlCol="0" anchor="ctr"/>
          <a:lstStyle/>
          <a:p>
            <a:pPr algn="ctr" indent="0" marL="0">
              <a:buNone/>
            </a:pPr>
            <a:r>
              <a:rPr lang="en-US" sz="1400" dirty="0">
                <a:solidFill>
                  <a:schemeClr val="tx1"/>
                </a:solidFill>
              </a:rPr>
              <a:t>Best validation accuracy</a:t>
            </a:r>
            <a:endParaRPr lang="en-US" sz="1400" dirty="0"/>
          </a:p>
        </p:txBody>
      </p:sp>
      <p:pic>
        <p:nvPicPr>
          <p:cNvPr id="12" name="Image 0" descr="Confusion matrix of the proposed model">    </p:cNvPr>
          <p:cNvPicPr>
            <a:picLocks noChangeAspect="1"/>
          </p:cNvPicPr>
          <p:nvPr/>
        </p:nvPicPr>
        <p:blipFill>
          <a:blip r:embed="rId1"/>
          <a:stretch>
            <a:fillRect/>
          </a:stretch>
        </p:blipFill>
        <p:spPr>
          <a:xfrm>
            <a:off x="3566160" y="1097280"/>
            <a:ext cx="2743200" cy="2743200"/>
          </a:xfrm>
          <a:prstGeom prst="rect">
            <a:avLst/>
          </a:prstGeom>
        </p:spPr>
      </p:pic>
      <p:sp>
        <p:nvSpPr>
          <p:cNvPr id="13" name="Text 10"/>
          <p:cNvSpPr txBox="1"/>
          <p:nvPr/>
        </p:nvSpPr>
        <p:spPr>
          <a:xfrm>
            <a:off x="3566160" y="3886200"/>
            <a:ext cx="2743200" cy="274320"/>
          </a:xfrm>
          <a:prstGeom prst="rect">
            <a:avLst/>
          </a:prstGeom>
          <a:noFill/>
          <a:ln/>
        </p:spPr>
        <p:txBody>
          <a:bodyPr wrap="square" lIns="0" tIns="0" rIns="0" bIns="0" rtlCol="0" anchor="ctr"/>
          <a:lstStyle/>
          <a:p>
            <a:pPr algn="ctr" indent="0" marL="0">
              <a:buNone/>
            </a:pPr>
            <a:r>
              <a:rPr lang="en-US" sz="1200" i="1" dirty="0">
                <a:solidFill>
                  <a:schemeClr val="accent3"/>
                </a:solidFill>
              </a:rPr>
              <a:t>Confusion matrix, 4,959 reviews</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92240" y="1188720"/>
          <a:ext cx="2194560" cy="914400"/>
        </p:xfrm>
        <a:graphic>
          <a:graphicData uri="http://schemas.openxmlformats.org/drawingml/2006/table">
            <a:tbl>
              <a:tblPr/>
              <a:tblGrid>
                <a:gridCol w="1005840"/>
                <a:gridCol w="594360"/>
                <a:gridCol w="594360"/>
              </a:tblGrid>
              <a:tr h="365760">
                <a:tc>
                  <a:txBody>
                    <a:bodyPr/>
                    <a:lstStyle/>
                    <a:p>
                      <a:pPr indent="0" marL="0">
                        <a:buNone/>
                      </a:pPr>
                      <a:r>
                        <a:rPr lang="en-US" sz="1200" b="1" dirty="0">
                          <a:solidFill>
                            <a:srgbClr val="FFFFFF"/>
                          </a:solidFill>
                        </a:rPr>
                        <a:t>Class</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rPr>
                        <a:t>P</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rPr>
                        <a:t>R</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4213D"/>
                    </a:solidFill>
                  </a:tcPr>
                </a:tc>
              </a:tr>
              <a:tr h="365760">
                <a:tc>
                  <a:txBody>
                    <a:bodyPr/>
                    <a:lstStyle/>
                    <a:p>
                      <a:pPr indent="0" marL="0">
                        <a:buNone/>
                      </a:pPr>
                      <a:r>
                        <a:rPr lang="en-US" sz="1200" dirty="0">
                          <a:solidFill>
                            <a:srgbClr val="14213D"/>
                          </a:solidFill>
                        </a:rPr>
                        <a:t>Negative</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1F5"/>
                    </a:solidFill>
                  </a:tcPr>
                </a:tc>
                <a:tc>
                  <a:txBody>
                    <a:bodyPr/>
                    <a:lstStyle/>
                    <a:p>
                      <a:pPr algn="ctr" indent="0" marL="0">
                        <a:buNone/>
                      </a:pPr>
                      <a:r>
                        <a:rPr lang="en-US" sz="1200" dirty="0">
                          <a:solidFill>
                            <a:srgbClr val="14213D"/>
                          </a:solidFill>
                        </a:rPr>
                        <a:t>95.62</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1F5"/>
                    </a:solidFill>
                  </a:tcPr>
                </a:tc>
                <a:tc>
                  <a:txBody>
                    <a:bodyPr/>
                    <a:lstStyle/>
                    <a:p>
                      <a:pPr algn="ctr" indent="0" marL="0">
                        <a:buNone/>
                      </a:pPr>
                      <a:r>
                        <a:rPr lang="en-US" sz="1200" dirty="0">
                          <a:solidFill>
                            <a:srgbClr val="14213D"/>
                          </a:solidFill>
                        </a:rPr>
                        <a:t>96.23</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1F5"/>
                    </a:solidFill>
                  </a:tcPr>
                </a:tc>
              </a:tr>
              <a:tr h="365760">
                <a:tc>
                  <a:txBody>
                    <a:bodyPr/>
                    <a:lstStyle/>
                    <a:p>
                      <a:pPr indent="0" marL="0">
                        <a:buNone/>
                      </a:pPr>
                      <a:r>
                        <a:rPr lang="en-US" sz="1200" dirty="0">
                          <a:solidFill>
                            <a:srgbClr val="14213D"/>
                          </a:solidFill>
                        </a:rPr>
                        <a:t>Positive</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13D"/>
                          </a:solidFill>
                        </a:rPr>
                        <a:t>96.24</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4213D"/>
                          </a:solidFill>
                        </a:rPr>
                        <a:t>95.62</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15" name="Text 11"/>
          <p:cNvSpPr txBox="1"/>
          <p:nvPr/>
        </p:nvSpPr>
        <p:spPr>
          <a:xfrm>
            <a:off x="6492240" y="2331720"/>
            <a:ext cx="2194560" cy="274320"/>
          </a:xfrm>
          <a:prstGeom prst="rect">
            <a:avLst/>
          </a:prstGeom>
          <a:noFill/>
          <a:ln/>
        </p:spPr>
        <p:txBody>
          <a:bodyPr wrap="square" lIns="0" tIns="0" rIns="0" bIns="0" rtlCol="0" anchor="ctr"/>
          <a:lstStyle/>
          <a:p>
            <a:pPr indent="0" marL="0">
              <a:buNone/>
            </a:pPr>
            <a:r>
              <a:rPr lang="en-US" sz="1100" i="1" dirty="0">
                <a:solidFill>
                  <a:schemeClr val="accent3"/>
                </a:solidFill>
              </a:rPr>
              <a:t>Precision (P) and recall (R), in %</a:t>
            </a:r>
            <a:endParaRPr lang="en-US" sz="1100" dirty="0"/>
          </a:p>
        </p:txBody>
      </p:sp>
      <p:sp>
        <p:nvSpPr>
          <p:cNvPr id="16" name="Text 12"/>
          <p:cNvSpPr txBox="1"/>
          <p:nvPr/>
        </p:nvSpPr>
        <p:spPr>
          <a:xfrm>
            <a:off x="6492240" y="2788920"/>
            <a:ext cx="2194560" cy="1280160"/>
          </a:xfrm>
          <a:prstGeom prst="rect">
            <a:avLst/>
          </a:prstGeom>
          <a:noFill/>
          <a:ln/>
        </p:spPr>
        <p:txBody>
          <a:bodyPr wrap="square" lIns="0" tIns="0" rIns="0" bIns="0" rtlCol="0" anchor="t"/>
          <a:lstStyle/>
          <a:p>
            <a:pPr indent="0" marL="0">
              <a:buNone/>
            </a:pPr>
            <a:r>
              <a:rPr lang="en-US" sz="1400" b="1" dirty="0">
                <a:solidFill>
                  <a:srgbClr val="14213D"/>
                </a:solidFill>
              </a:rPr>
              <a:t>202 errors</a:t>
            </a:r>
            <a:endParaRPr lang="en-US" sz="1400" dirty="0"/>
          </a:p>
          <a:p>
            <a:pPr indent="0" marL="0">
              <a:buNone/>
            </a:pPr>
            <a:r>
              <a:rPr lang="en-US" sz="1400" dirty="0">
                <a:solidFill>
                  <a:schemeClr val="tx1"/>
                </a:solidFill>
              </a:rPr>
              <a:t>93 false positives, 109 false negatives. Balanced across both classes.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Comparison with Prior Work</a:t>
            </a:r>
            <a:endParaRPr lang="en-US" sz="3200" dirty="0"/>
          </a:p>
        </p:txBody>
      </p:sp>
      <p:sp>
        <p:nvSpPr>
          <p:cNvPr id="3" name="Chart frame"/>
          <p:cNvSpPr/>
          <p:nvPr/>
        </p:nvSpPr>
        <p:spPr>
          <a:xfrm>
            <a:off x="457200" y="1097280"/>
            <a:ext cx="5120640" cy="3520440"/>
          </a:xfrm>
          <a:prstGeom prst="rect">
            <a:avLst/>
          </a:prstGeom>
          <a:solidFill>
            <a:schemeClr val="bg1"/>
          </a:solidFill>
          <a:ln w="12700">
            <a:solidFill>
              <a:schemeClr val="accent6"/>
            </a:solidFill>
            <a:prstDash val="solid"/>
          </a:ln>
        </p:spPr>
      </p:sp>
      <p:graphicFrame>
        <p:nvGraphicFramePr>
          <p:cNvPr id="4" name="Chart 0" descr=""/>
          <p:cNvGraphicFramePr/>
          <p:nvPr/>
        </p:nvGraphicFramePr>
        <p:xfrm>
          <a:off x="548640" y="1188720"/>
          <a:ext cx="4937760" cy="3337560"/>
        </p:xfrm>
        <a:graphic xmlns:a="http://schemas.openxmlformats.org/drawingml/2006/main">
          <a:graphicData uri="http://schemas.openxmlformats.org/drawingml/2006/chart">
            <c:chart xmlns:c="http://schemas.openxmlformats.org/drawingml/2006/chart" r:id="rId1"/>
          </a:graphicData>
        </a:graphic>
      </p:graphicFrame>
      <p:sp>
        <p:nvSpPr>
          <p:cNvPr id="5" name="Gain card 1"/>
          <p:cNvSpPr/>
          <p:nvPr/>
        </p:nvSpPr>
        <p:spPr>
          <a:xfrm>
            <a:off x="5806440" y="1097280"/>
            <a:ext cx="2880360" cy="685800"/>
          </a:xfrm>
          <a:prstGeom prst="rect">
            <a:avLst/>
          </a:prstGeom>
          <a:solidFill>
            <a:schemeClr val="bg2"/>
          </a:solidFill>
          <a:ln w="12700">
            <a:solidFill>
              <a:schemeClr val="bg2"/>
            </a:solidFill>
            <a:prstDash val="solid"/>
          </a:ln>
        </p:spPr>
      </p:sp>
      <p:sp>
        <p:nvSpPr>
          <p:cNvPr id="6" name="Text 3"/>
          <p:cNvSpPr txBox="1"/>
          <p:nvPr/>
        </p:nvSpPr>
        <p:spPr>
          <a:xfrm>
            <a:off x="5897880" y="1097280"/>
            <a:ext cx="1234440" cy="6858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+3.57 pp</a:t>
            </a:r>
            <a:endParaRPr lang="en-US" sz="2000" dirty="0"/>
          </a:p>
        </p:txBody>
      </p:sp>
      <p:sp>
        <p:nvSpPr>
          <p:cNvPr id="7" name="Text 4"/>
          <p:cNvSpPr txBox="1"/>
          <p:nvPr/>
        </p:nvSpPr>
        <p:spPr>
          <a:xfrm>
            <a:off x="7132320" y="1097280"/>
            <a:ext cx="1508760" cy="685800"/>
          </a:xfrm>
          <a:prstGeom prst="rect">
            <a:avLst/>
          </a:prstGeom>
          <a:noFill/>
          <a:ln/>
        </p:spPr>
        <p:txBody>
          <a:bodyPr wrap="square" lIns="0" tIns="0" rIns="0" bIns="0" rtlCol="0" anchor="ctr"/>
          <a:lstStyle/>
          <a:p>
            <a:pPr indent="0" marL="0">
              <a:buNone/>
            </a:pPr>
            <a:r>
              <a:rPr lang="en-US" sz="1300" dirty="0">
                <a:solidFill>
                  <a:schemeClr val="tx1"/>
                </a:solidFill>
              </a:rPr>
              <a:t>over RoBERTa-BiLSTM</a:t>
            </a:r>
            <a:endParaRPr lang="en-US" sz="1300" dirty="0"/>
          </a:p>
        </p:txBody>
      </p:sp>
      <p:sp>
        <p:nvSpPr>
          <p:cNvPr id="8" name="Gain card 2"/>
          <p:cNvSpPr/>
          <p:nvPr/>
        </p:nvSpPr>
        <p:spPr>
          <a:xfrm>
            <a:off x="5806440" y="1874520"/>
            <a:ext cx="2880360" cy="685800"/>
          </a:xfrm>
          <a:prstGeom prst="rect">
            <a:avLst/>
          </a:prstGeom>
          <a:solidFill>
            <a:schemeClr val="bg2"/>
          </a:solidFill>
          <a:ln w="12700">
            <a:solidFill>
              <a:schemeClr val="bg2"/>
            </a:solidFill>
            <a:prstDash val="solid"/>
          </a:ln>
        </p:spPr>
      </p:sp>
      <p:sp>
        <p:nvSpPr>
          <p:cNvPr id="9" name="Text 6"/>
          <p:cNvSpPr txBox="1"/>
          <p:nvPr/>
        </p:nvSpPr>
        <p:spPr>
          <a:xfrm>
            <a:off x="5897880" y="1874520"/>
            <a:ext cx="1234440" cy="6858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+4.61 pp</a:t>
            </a:r>
            <a:endParaRPr lang="en-US" sz="2000" dirty="0"/>
          </a:p>
        </p:txBody>
      </p:sp>
      <p:sp>
        <p:nvSpPr>
          <p:cNvPr id="10" name="Text 7"/>
          <p:cNvSpPr txBox="1"/>
          <p:nvPr/>
        </p:nvSpPr>
        <p:spPr>
          <a:xfrm>
            <a:off x="7132320" y="1874520"/>
            <a:ext cx="1508760" cy="685800"/>
          </a:xfrm>
          <a:prstGeom prst="rect">
            <a:avLst/>
          </a:prstGeom>
          <a:noFill/>
          <a:ln/>
        </p:spPr>
        <p:txBody>
          <a:bodyPr wrap="square" lIns="0" tIns="0" rIns="0" bIns="0" rtlCol="0" anchor="ctr"/>
          <a:lstStyle/>
          <a:p>
            <a:pPr indent="0" marL="0">
              <a:buNone/>
            </a:pPr>
            <a:r>
              <a:rPr lang="en-US" sz="1300" dirty="0">
                <a:solidFill>
                  <a:schemeClr val="tx1"/>
                </a:solidFill>
              </a:rPr>
              <a:t>over RoBERTa-base</a:t>
            </a:r>
            <a:endParaRPr lang="en-US" sz="1300" dirty="0"/>
          </a:p>
        </p:txBody>
      </p:sp>
      <p:sp>
        <p:nvSpPr>
          <p:cNvPr id="11" name="Gain card 3"/>
          <p:cNvSpPr/>
          <p:nvPr/>
        </p:nvSpPr>
        <p:spPr>
          <a:xfrm>
            <a:off x="5806440" y="2651760"/>
            <a:ext cx="2880360" cy="685800"/>
          </a:xfrm>
          <a:prstGeom prst="rect">
            <a:avLst/>
          </a:prstGeom>
          <a:solidFill>
            <a:schemeClr val="bg2"/>
          </a:solidFill>
          <a:ln w="12700">
            <a:solidFill>
              <a:schemeClr val="bg2"/>
            </a:solidFill>
            <a:prstDash val="solid"/>
          </a:ln>
        </p:spPr>
      </p:sp>
      <p:sp>
        <p:nvSpPr>
          <p:cNvPr id="12" name="Text 9"/>
          <p:cNvSpPr txBox="1"/>
          <p:nvPr/>
        </p:nvSpPr>
        <p:spPr>
          <a:xfrm>
            <a:off x="5897880" y="2651760"/>
            <a:ext cx="1234440" cy="6858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+8.81 pp</a:t>
            </a:r>
            <a:endParaRPr lang="en-US" sz="2000" dirty="0"/>
          </a:p>
        </p:txBody>
      </p:sp>
      <p:sp>
        <p:nvSpPr>
          <p:cNvPr id="13" name="Text 10"/>
          <p:cNvSpPr txBox="1"/>
          <p:nvPr/>
        </p:nvSpPr>
        <p:spPr>
          <a:xfrm>
            <a:off x="7132320" y="2651760"/>
            <a:ext cx="1508760" cy="685800"/>
          </a:xfrm>
          <a:prstGeom prst="rect">
            <a:avLst/>
          </a:prstGeom>
          <a:noFill/>
          <a:ln/>
        </p:spPr>
        <p:txBody>
          <a:bodyPr wrap="square" lIns="0" tIns="0" rIns="0" bIns="0" rtlCol="0" anchor="ctr"/>
          <a:lstStyle/>
          <a:p>
            <a:pPr indent="0" marL="0">
              <a:buNone/>
            </a:pPr>
            <a:r>
              <a:rPr lang="en-US" sz="1300" dirty="0">
                <a:solidFill>
                  <a:schemeClr val="tx1"/>
                </a:solidFill>
              </a:rPr>
              <a:t>over Logistic Regression</a:t>
            </a:r>
            <a:endParaRPr lang="en-US" sz="1300" dirty="0"/>
          </a:p>
        </p:txBody>
      </p:sp>
      <p:sp>
        <p:nvSpPr>
          <p:cNvPr id="14" name="Caveat panel"/>
          <p:cNvSpPr/>
          <p:nvPr/>
        </p:nvSpPr>
        <p:spPr>
          <a:xfrm>
            <a:off x="5806440" y="3520440"/>
            <a:ext cx="2880360" cy="1097280"/>
          </a:xfrm>
          <a:prstGeom prst="rect">
            <a:avLst/>
          </a:prstGeom>
          <a:solidFill>
            <a:schemeClr val="tx2"/>
          </a:solidFill>
          <a:ln w="12700">
            <a:solidFill>
              <a:schemeClr val="tx2"/>
            </a:solidFill>
            <a:prstDash val="solid"/>
          </a:ln>
        </p:spPr>
      </p:sp>
      <p:sp>
        <p:nvSpPr>
          <p:cNvPr id="15" name="Text 12"/>
          <p:cNvSpPr txBox="1"/>
          <p:nvPr/>
        </p:nvSpPr>
        <p:spPr>
          <a:xfrm>
            <a:off x="5943600" y="3520440"/>
            <a:ext cx="2606040" cy="1097280"/>
          </a:xfrm>
          <a:prstGeom prst="rect">
            <a:avLst/>
          </a:prstGeom>
          <a:noFill/>
          <a:ln/>
        </p:spPr>
        <p:txBody>
          <a:bodyPr wrap="square" lIns="0" tIns="0" rIns="0" bIns="0" rtlCol="0" anchor="ctr"/>
          <a:lstStyle/>
          <a:p>
            <a:pPr indent="0" marL="0">
              <a:buNone/>
            </a:pPr>
            <a:r>
              <a:rPr lang="en-US" sz="1300" b="1" dirty="0">
                <a:solidFill>
                  <a:srgbClr val="E9A23B"/>
                </a:solidFill>
              </a:rPr>
              <a:t>Read with care  </a:t>
            </a:r>
            <a:pPr indent="0" marL="0">
              <a:buNone/>
            </a:pPr>
            <a:r>
              <a:rPr lang="en-US" sz="1300" dirty="0">
                <a:solidFill>
                  <a:srgbClr val="FFFFFF"/>
                </a:solidFill>
              </a:rPr>
              <a:t>Separately reported experiments. Encoders and setups differ.</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Discussion and Limitations</a:t>
            </a:r>
            <a:endParaRPr lang="en-US" sz="3200" dirty="0"/>
          </a:p>
        </p:txBody>
      </p:sp>
      <p:sp>
        <p:nvSpPr>
          <p:cNvPr id="3" name="Supports card"/>
          <p:cNvSpPr/>
          <p:nvPr/>
        </p:nvSpPr>
        <p:spPr>
          <a:xfrm>
            <a:off x="457200" y="1143000"/>
            <a:ext cx="4023360" cy="2606040"/>
          </a:xfrm>
          <a:prstGeom prst="rect">
            <a:avLst/>
          </a:prstGeom>
          <a:solidFill>
            <a:schemeClr val="bg2"/>
          </a:solidFill>
          <a:ln w="12700">
            <a:solidFill>
              <a:schemeClr val="bg2"/>
            </a:solidFill>
            <a:prstDash val="solid"/>
          </a:ln>
        </p:spPr>
      </p:sp>
      <p:sp>
        <p:nvSpPr>
          <p:cNvPr id="4" name="Check circle"/>
          <p:cNvSpPr/>
          <p:nvPr/>
        </p:nvSpPr>
        <p:spPr>
          <a:xfrm>
            <a:off x="640080" y="1280160"/>
            <a:ext cx="457200" cy="457200"/>
          </a:xfrm>
          <a:prstGeom prst="ellipse">
            <a:avLst/>
          </a:prstGeom>
          <a:solidFill>
            <a:schemeClr val="accent5"/>
          </a:solidFill>
          <a:ln w="12700">
            <a:solidFill>
              <a:schemeClr val="accent5"/>
            </a:solidFill>
            <a:prstDash val="solid"/>
          </a:ln>
        </p:spPr>
      </p:sp>
      <p:pic>
        <p:nvPicPr>
          <p:cNvPr id="5" name="Image 0" descr="check">    </p:cNvPr>
          <p:cNvPicPr>
            <a:picLocks noChangeAspect="1"/>
          </p:cNvPicPr>
          <p:nvPr/>
        </p:nvPicPr>
        <p:blipFill>
          <a:blip r:embed="rId1"/>
          <a:stretch>
            <a:fillRect/>
          </a:stretch>
        </p:blipFill>
        <p:spPr>
          <a:xfrm>
            <a:off x="749808" y="1389888"/>
            <a:ext cx="237744" cy="237744"/>
          </a:xfrm>
          <a:prstGeom prst="rect">
            <a:avLst/>
          </a:prstGeom>
        </p:spPr>
      </p:pic>
      <p:sp>
        <p:nvSpPr>
          <p:cNvPr id="6" name="Text 3"/>
          <p:cNvSpPr txBox="1"/>
          <p:nvPr/>
        </p:nvSpPr>
        <p:spPr>
          <a:xfrm>
            <a:off x="1234440" y="1280160"/>
            <a:ext cx="3108960" cy="45720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What the evidence supports</a:t>
            </a:r>
            <a:endParaRPr lang="en-US" sz="1600" dirty="0"/>
          </a:p>
        </p:txBody>
      </p:sp>
      <p:sp>
        <p:nvSpPr>
          <p:cNvPr id="7" name="Text 4"/>
          <p:cNvSpPr txBox="1"/>
          <p:nvPr/>
        </p:nvSpPr>
        <p:spPr>
          <a:xfrm>
            <a:off x="640080" y="1828800"/>
            <a:ext cx="3657600" cy="18745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Validation 96.07% vs test 95.93%: no sign of overfitting to validation</a:t>
            </a:r>
            <a:endParaRPr lang="en-US" sz="1400" dirty="0"/>
          </a:p>
          <a:p>
            <a:pPr marL="342900" indent="-342900">
              <a:spcAft>
                <a:spcPts val="800"/>
              </a:spcAft>
              <a:buSzPct val="100000"/>
              <a:buChar char="•"/>
            </a:pPr>
            <a:r>
              <a:rPr lang="en-US" sz="1400" dirty="0">
                <a:solidFill>
                  <a:schemeClr val="tx1"/>
                </a:solidFill>
              </a:rPr>
              <a:t>Balanced precision and recall in both classes</a:t>
            </a:r>
            <a:endParaRPr lang="en-US" sz="1400" dirty="0"/>
          </a:p>
          <a:p>
            <a:pPr marL="342900" indent="-342900">
              <a:spcAft>
                <a:spcPts val="800"/>
              </a:spcAft>
              <a:buSzPct val="100000"/>
              <a:buChar char="•"/>
            </a:pPr>
            <a:r>
              <a:rPr lang="en-US" sz="1400" dirty="0">
                <a:solidFill>
                  <a:schemeClr val="tx1"/>
                </a:solidFill>
              </a:rPr>
              <a:t>95% confidence interval about ±0.55 points on 4,959 reviews</a:t>
            </a:r>
            <a:endParaRPr lang="en-US" sz="1400" dirty="0"/>
          </a:p>
        </p:txBody>
      </p:sp>
      <p:sp>
        <p:nvSpPr>
          <p:cNvPr id="8" name="Limits card"/>
          <p:cNvSpPr/>
          <p:nvPr/>
        </p:nvSpPr>
        <p:spPr>
          <a:xfrm>
            <a:off x="4663440" y="1143000"/>
            <a:ext cx="4023360" cy="2606040"/>
          </a:xfrm>
          <a:prstGeom prst="rect">
            <a:avLst/>
          </a:prstGeom>
          <a:solidFill>
            <a:schemeClr val="bg2"/>
          </a:solidFill>
          <a:ln w="12700">
            <a:solidFill>
              <a:schemeClr val="bg2"/>
            </a:solidFill>
            <a:prstDash val="solid"/>
          </a:ln>
        </p:spPr>
      </p:sp>
      <p:sp>
        <p:nvSpPr>
          <p:cNvPr id="9" name="Warning circle"/>
          <p:cNvSpPr/>
          <p:nvPr/>
        </p:nvSpPr>
        <p:spPr>
          <a:xfrm>
            <a:off x="4846320" y="1280160"/>
            <a:ext cx="457200" cy="457200"/>
          </a:xfrm>
          <a:prstGeom prst="ellipse">
            <a:avLst/>
          </a:prstGeom>
          <a:solidFill>
            <a:schemeClr val="accent4"/>
          </a:solidFill>
          <a:ln w="12700">
            <a:solidFill>
              <a:schemeClr val="accent4"/>
            </a:solidFill>
            <a:prstDash val="solid"/>
          </a:ln>
        </p:spPr>
      </p:sp>
      <p:pic>
        <p:nvPicPr>
          <p:cNvPr id="10" name="Image 1" descr="warning">    </p:cNvPr>
          <p:cNvPicPr>
            <a:picLocks noChangeAspect="1"/>
          </p:cNvPicPr>
          <p:nvPr/>
        </p:nvPicPr>
        <p:blipFill>
          <a:blip r:embed="rId2"/>
          <a:stretch>
            <a:fillRect/>
          </a:stretch>
        </p:blipFill>
        <p:spPr>
          <a:xfrm>
            <a:off x="4956048" y="1389888"/>
            <a:ext cx="237744" cy="237744"/>
          </a:xfrm>
          <a:prstGeom prst="rect">
            <a:avLst/>
          </a:prstGeom>
        </p:spPr>
      </p:pic>
      <p:sp>
        <p:nvSpPr>
          <p:cNvPr id="11" name="Text 7"/>
          <p:cNvSpPr txBox="1"/>
          <p:nvPr/>
        </p:nvSpPr>
        <p:spPr>
          <a:xfrm>
            <a:off x="5440680" y="1280160"/>
            <a:ext cx="3108960" cy="45720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What it does not prove</a:t>
            </a:r>
            <a:endParaRPr lang="en-US" sz="1600" dirty="0"/>
          </a:p>
        </p:txBody>
      </p:sp>
      <p:sp>
        <p:nvSpPr>
          <p:cNvPr id="12" name="Text 8"/>
          <p:cNvSpPr txBox="1"/>
          <p:nvPr/>
        </p:nvSpPr>
        <p:spPr>
          <a:xfrm>
            <a:off x="4846320" y="1828800"/>
            <a:ext cx="3657600" cy="18745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Which part helped: encoder, pooling, or setup</a:t>
            </a:r>
            <a:endParaRPr lang="en-US" sz="1400" dirty="0"/>
          </a:p>
          <a:p>
            <a:pPr marL="342900" indent="-342900">
              <a:spcAft>
                <a:spcPts val="800"/>
              </a:spcAft>
              <a:buSzPct val="100000"/>
              <a:buChar char="•"/>
            </a:pPr>
            <a:r>
              <a:rPr lang="en-US" sz="1400" dirty="0">
                <a:solidFill>
                  <a:schemeClr val="tx1"/>
                </a:solidFill>
              </a:rPr>
              <a:t>Lower training cost: per-epoch time is of similar size</a:t>
            </a:r>
            <a:endParaRPr lang="en-US" sz="1400" dirty="0"/>
          </a:p>
          <a:p>
            <a:pPr marL="342900" indent="-342900">
              <a:spcAft>
                <a:spcPts val="800"/>
              </a:spcAft>
              <a:buSzPct val="100000"/>
              <a:buChar char="•"/>
            </a:pPr>
            <a:r>
              <a:rPr lang="en-US" sz="1400" dirty="0">
                <a:solidFill>
                  <a:schemeClr val="tx1"/>
                </a:solidFill>
              </a:rPr>
              <a:t>One split, one run, one English dataset</a:t>
            </a:r>
            <a:endParaRPr lang="en-US" sz="1400" dirty="0"/>
          </a:p>
        </p:txBody>
      </p:sp>
      <p:sp>
        <p:nvSpPr>
          <p:cNvPr id="13" name="Next step band"/>
          <p:cNvSpPr/>
          <p:nvPr/>
        </p:nvSpPr>
        <p:spPr>
          <a:xfrm>
            <a:off x="457200" y="3931920"/>
            <a:ext cx="8229600" cy="685800"/>
          </a:xfrm>
          <a:prstGeom prst="rect">
            <a:avLst/>
          </a:prstGeom>
          <a:solidFill>
            <a:schemeClr val="tx2"/>
          </a:solidFill>
          <a:ln w="12700">
            <a:solidFill>
              <a:schemeClr val="tx2"/>
            </a:solidFill>
            <a:prstDash val="solid"/>
          </a:ln>
        </p:spPr>
      </p:sp>
      <p:sp>
        <p:nvSpPr>
          <p:cNvPr id="14" name="Text 10"/>
          <p:cNvSpPr txBox="1"/>
          <p:nvPr/>
        </p:nvSpPr>
        <p:spPr>
          <a:xfrm>
            <a:off x="685800" y="3931920"/>
            <a:ext cx="7772400" cy="685800"/>
          </a:xfrm>
          <a:prstGeom prst="rect">
            <a:avLst/>
          </a:prstGeom>
          <a:noFill/>
          <a:ln/>
        </p:spPr>
        <p:txBody>
          <a:bodyPr wrap="square" lIns="0" tIns="0" rIns="0" bIns="0" rtlCol="0" anchor="ctr"/>
          <a:lstStyle/>
          <a:p>
            <a:pPr indent="0" marL="0">
              <a:buNone/>
            </a:pPr>
            <a:r>
              <a:rPr lang="en-US" sz="1600" b="1" dirty="0">
                <a:solidFill>
                  <a:srgbClr val="E9A23B"/>
                </a:solidFill>
              </a:rPr>
              <a:t>Next step  </a:t>
            </a:r>
            <a:pPr indent="0" marL="0">
              <a:buNone/>
            </a:pPr>
            <a:r>
              <a:rPr lang="en-US" sz="1600" dirty="0">
                <a:solidFill>
                  <a:srgbClr val="FFFFFF"/>
                </a:solidFill>
              </a:rPr>
              <a:t>Reproduce the baseline and ablate the pooling head on the same split.</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bg1"/>
                </a:solidFill>
              </a:rPr>
              <a:t>Conclusion and Future Scope</a:t>
            </a:r>
            <a:endParaRPr lang="en-US" sz="3200" dirty="0"/>
          </a:p>
        </p:txBody>
      </p:sp>
      <p:sp>
        <p:nvSpPr>
          <p:cNvPr id="3" name="Text 1"/>
          <p:cNvSpPr txBox="1"/>
          <p:nvPr/>
        </p:nvSpPr>
        <p:spPr>
          <a:xfrm>
            <a:off x="457200" y="1097280"/>
            <a:ext cx="3931920" cy="36576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Conclusion</a:t>
            </a:r>
            <a:endParaRPr lang="en-US" sz="2000" dirty="0"/>
          </a:p>
        </p:txBody>
      </p:sp>
      <p:sp>
        <p:nvSpPr>
          <p:cNvPr id="4" name="Text 2"/>
          <p:cNvSpPr txBox="1"/>
          <p:nvPr/>
        </p:nvSpPr>
        <p:spPr>
          <a:xfrm>
            <a:off x="457200" y="1508760"/>
            <a:ext cx="393192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ModernBERT-base with attention pooling reaches 95.93% accuracy and weighted F1 on IMDb</a:t>
            </a:r>
            <a:endParaRPr lang="en-US" sz="1600" dirty="0"/>
          </a:p>
          <a:p>
            <a:pPr marL="342900" indent="-342900">
              <a:spcAft>
                <a:spcPts val="800"/>
              </a:spcAft>
              <a:buSzPct val="100000"/>
              <a:buChar char="•"/>
            </a:pPr>
            <a:r>
              <a:rPr lang="en-US" sz="1600" dirty="0">
                <a:solidFill>
                  <a:schemeClr val="bg1"/>
                </a:solidFill>
              </a:rPr>
              <a:t>3.57 points above the published RoBERTa-BiLSTM, with no recurrent layer</a:t>
            </a:r>
            <a:endParaRPr lang="en-US" sz="1600" dirty="0"/>
          </a:p>
          <a:p>
            <a:pPr marL="342900" indent="-342900">
              <a:spcAft>
                <a:spcPts val="800"/>
              </a:spcAft>
              <a:buSzPct val="100000"/>
              <a:buChar char="•"/>
            </a:pPr>
            <a:r>
              <a:rPr lang="en-US" sz="1600" dirty="0">
                <a:solidFill>
                  <a:schemeClr val="bg1"/>
                </a:solidFill>
              </a:rPr>
              <a:t>A strong, practical classifier, trained on free cloud hardware</a:t>
            </a:r>
            <a:endParaRPr lang="en-US" sz="1600" dirty="0"/>
          </a:p>
        </p:txBody>
      </p:sp>
      <p:sp>
        <p:nvSpPr>
          <p:cNvPr id="5" name="Text 3"/>
          <p:cNvSpPr txBox="1"/>
          <p:nvPr/>
        </p:nvSpPr>
        <p:spPr>
          <a:xfrm>
            <a:off x="4754880" y="1097280"/>
            <a:ext cx="3931920" cy="36576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Future scope</a:t>
            </a:r>
            <a:endParaRPr lang="en-US" sz="2000" dirty="0"/>
          </a:p>
        </p:txBody>
      </p:sp>
      <p:sp>
        <p:nvSpPr>
          <p:cNvPr id="6" name="Text 4"/>
          <p:cNvSpPr txBox="1"/>
          <p:nvPr/>
        </p:nvSpPr>
        <p:spPr>
          <a:xfrm>
            <a:off x="4754880" y="1508760"/>
            <a:ext cx="393192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Reproduce RoBERTa-BiLSTM on the same split</a:t>
            </a:r>
            <a:endParaRPr lang="en-US" sz="1600" dirty="0"/>
          </a:p>
          <a:p>
            <a:pPr marL="342900" indent="-342900">
              <a:spcAft>
                <a:spcPts val="800"/>
              </a:spcAft>
              <a:buSzPct val="100000"/>
              <a:buChar char="•"/>
            </a:pPr>
            <a:r>
              <a:rPr lang="en-US" sz="1600" dirty="0">
                <a:solidFill>
                  <a:schemeClr val="bg1"/>
                </a:solidFill>
              </a:rPr>
              <a:t>Ablate pooling: [CLS]-only vs attention</a:t>
            </a:r>
            <a:endParaRPr lang="en-US" sz="1600" dirty="0"/>
          </a:p>
          <a:p>
            <a:pPr marL="342900" indent="-342900">
              <a:spcAft>
                <a:spcPts val="800"/>
              </a:spcAft>
              <a:buSzPct val="100000"/>
              <a:buChar char="•"/>
            </a:pPr>
            <a:r>
              <a:rPr lang="en-US" sz="1600" dirty="0">
                <a:solidFill>
                  <a:schemeClr val="bg1"/>
                </a:solidFill>
              </a:rPr>
              <a:t>Several seeds and more datasets</a:t>
            </a:r>
            <a:endParaRPr lang="en-US" sz="1600" dirty="0"/>
          </a:p>
          <a:p>
            <a:pPr marL="342900" indent="-342900">
              <a:spcAft>
                <a:spcPts val="800"/>
              </a:spcAft>
              <a:buSzPct val="100000"/>
              <a:buChar char="•"/>
            </a:pPr>
            <a:r>
              <a:rPr lang="en-US" sz="1600" dirty="0">
                <a:solidFill>
                  <a:schemeClr val="bg1"/>
                </a:solidFill>
              </a:rPr>
              <a:t>Measure latency and GPU memory</a:t>
            </a:r>
            <a:endParaRPr lang="en-US" sz="1600" dirty="0"/>
          </a:p>
        </p:txBody>
      </p:sp>
      <p:sp>
        <p:nvSpPr>
          <p:cNvPr id="7" name="Thank you panel"/>
          <p:cNvSpPr/>
          <p:nvPr/>
        </p:nvSpPr>
        <p:spPr>
          <a:xfrm>
            <a:off x="457200" y="3931920"/>
            <a:ext cx="8229600" cy="777240"/>
          </a:xfrm>
          <a:prstGeom prst="rect">
            <a:avLst/>
          </a:prstGeom>
          <a:solidFill>
            <a:schemeClr val="bg1"/>
          </a:solidFill>
          <a:ln w="12700">
            <a:solidFill>
              <a:schemeClr val="bg1"/>
            </a:solidFill>
            <a:prstDash val="solid"/>
          </a:ln>
        </p:spPr>
      </p:sp>
      <p:sp>
        <p:nvSpPr>
          <p:cNvPr id="8" name="Text 6"/>
          <p:cNvSpPr txBox="1"/>
          <p:nvPr/>
        </p:nvSpPr>
        <p:spPr>
          <a:xfrm>
            <a:off x="685800" y="3931920"/>
            <a:ext cx="7772400" cy="777240"/>
          </a:xfrm>
          <a:prstGeom prst="rect">
            <a:avLst/>
          </a:prstGeom>
          <a:noFill/>
          <a:ln/>
        </p:spPr>
        <p:txBody>
          <a:bodyPr wrap="square" lIns="0" tIns="0" rIns="0" bIns="0" rtlCol="0" anchor="ctr"/>
          <a:lstStyle/>
          <a:p>
            <a:pPr indent="0" marL="0">
              <a:buNone/>
            </a:pPr>
            <a:r>
              <a:rPr lang="en-US" sz="2400" b="1" dirty="0">
                <a:solidFill>
                  <a:srgbClr val="14213D"/>
                </a:solidFill>
                <a:latin typeface="Cambria" pitchFamily="34" charset="0"/>
                <a:ea typeface="Cambria" pitchFamily="34" charset="-122"/>
                <a:cs typeface="Cambria" pitchFamily="34" charset="-120"/>
              </a:rPr>
              <a:t>Thank you</a:t>
            </a:r>
            <a:pPr indent="0" marL="0">
              <a:buNone/>
            </a:pPr>
            <a:r>
              <a:rPr lang="en-US" sz="1600" dirty="0">
                <a:solidFill>
                  <a:srgbClr val="6B7A8F"/>
                </a:solidFill>
              </a:rPr>
              <a:t>     Questions are welcome</a:t>
            </a:r>
            <a:endParaRPr lang="en-US" sz="2400" dirty="0"/>
          </a:p>
        </p:txBody>
      </p:sp>
    </p:spTree>
  </p:cSld>
  <p:clrMapOvr>
    <a:masterClrMapping/>
  </p:clrMapOvr>
</p:sld>
</file>

<file path=ppt/theme/theme1.xml><?xml version="1.0" encoding="utf-8"?>
<a:theme xmlns:a="http://schemas.openxmlformats.org/drawingml/2006/main" name="ModernBERT Defence">
  <a:themeElements>
    <a:clrScheme name="ModernBERT Defence">
      <a:dk1>
        <a:srgbClr val="1F2933"/>
      </a:dk1>
      <a:lt1>
        <a:srgbClr val="FFFFFF"/>
      </a:lt1>
      <a:dk2>
        <a:srgbClr val="14213D"/>
      </a:dk2>
      <a:lt2>
        <a:srgbClr val="EEF1F5"/>
      </a:lt2>
      <a:accent1>
        <a:srgbClr val="E9A23B"/>
      </a:accent1>
      <a:accent2>
        <a:srgbClr val="2F5D8C"/>
      </a:accent2>
      <a:accent3>
        <a:srgbClr val="6B7A8F"/>
      </a:accent3>
      <a:accent4>
        <a:srgbClr val="C8553D"/>
      </a:accent4>
      <a:accent5>
        <a:srgbClr val="3E8E7E"/>
      </a:accent5>
      <a:accent6>
        <a:srgbClr val="9AA5B1"/>
      </a:accent6>
      <a:hlink>
        <a:srgbClr val="2F5D8C"/>
      </a:hlink>
      <a:folHlink>
        <a:srgbClr val="6B7A8F"/>
      </a:folHlink>
    </a:clrScheme>
    <a:fontScheme name="ModernBERT Def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Sentiment Analysis of IMDb Movie Reviews Using ModernBERT with Attention Pooling</dc:title>
  <dc:subject>PptxGenJS Presentation</dc:subject>
  <dc:creator>Polawar Pranav Shirish, Satyam Raj</dc:creator>
  <cp:lastModifiedBy>Polawar Pranav Shirish, Satyam Raj</cp:lastModifiedBy>
  <cp:revision>1</cp:revision>
  <dcterms:created xsi:type="dcterms:W3CDTF">2026-10-29T20:40:21Z</dcterms:created>
  <dcterms:modified xsi:type="dcterms:W3CDTF">2026-10-29T20:40:21Z</dcterms:modified>
</cp:coreProperties>
</file>